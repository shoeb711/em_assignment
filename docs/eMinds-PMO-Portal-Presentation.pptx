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b1e8a0b-ba17-1fc2-8d65-72d189614888}">
          <p14:sldIdLst>
            <p14:sldId id="256"/>
          </p14:sldIdLst>
        </p14:section>
        <p14:section name="Solution" id="{7f90a7f3-4c77-081e-d389-e2bd6b8633ae}">
          <p14:sldIdLst>
            <p14:sldId id="257"/>
            <p14:sldId id="258"/>
          </p14:sldIdLst>
        </p14:section>
        <p14:section name="Finance &amp; intelligence" id="{8027bbf8-ef60-3568-663d-e8004df7b277}">
          <p14:sldIdLst>
            <p14:sldId id="259"/>
            <p14:sldId id="260"/>
          </p14:sldIdLst>
        </p14:section>
        <p14:section name="Automation, AI &amp; quality" id="{11b5b971-14fa-1a58-ea91-a1c7147b1963}">
          <p14:sldIdLst>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34155"/>
                </a:solidFill>
                <a:latin typeface="+mn-lt"/>
              </a:defRPr>
            </a:pPr>
            <a:r>
              <a:rPr sz="1400" b="0" i="0" u="none" strike="noStrike">
                <a:solidFill>
                  <a:srgbClr val="334155"/>
                </a:solidFill>
                <a:latin typeface="+mn-lt"/>
              </a:rPr>
              <a:t>Budget vs actual vs EAC by project (AED millions)</a:t>
            </a:r>
          </a:p>
        </c:rich>
      </c:tx>
      <c:layout/>
      <c:overlay val="0"/>
    </c:title>
    <c:autoTitleDeleted val="0"/>
    <c:plotArea>
      <c:layout/>
      <c:barChart>
        <c:barDir val="col"/>
        <c:grouping val="clustered"/>
        <c:varyColors val="0"/>
        <c:ser>
          <c:idx val="0"/>
          <c:order val="0"/>
          <c:tx>
            <c:strRef>
              <c:f>Sheet1!$B$1</c:f>
              <c:strCache>
                <c:ptCount val="1"/>
                <c:pt idx="0">
                  <c:v>Approved budget</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PRJ-001</c:v>
                  </c:pt>
                  <c:pt idx="1">
                    <c:v>PRJ-002</c:v>
                  </c:pt>
                  <c:pt idx="2">
                    <c:v>PRJ-003</c:v>
                  </c:pt>
                  <c:pt idx="3">
                    <c:v>PRJ-004</c:v>
                  </c:pt>
                  <c:pt idx="4">
                    <c:v>PRJ-005</c:v>
                  </c:pt>
                  <c:pt idx="5">
                    <c:v>PRJ-006</c:v>
                  </c:pt>
                  <c:pt idx="6">
                    <c:v>PRJ-007</c:v>
                  </c:pt>
                  <c:pt idx="7">
                    <c:v>PRJ-008</c:v>
                  </c:pt>
                  <c:pt idx="8">
                    <c:v>PRJ-009</c:v>
                  </c:pt>
                  <c:pt idx="9">
                    <c:v>PRJ-010</c:v>
                  </c:pt>
                </c:lvl>
              </c:multiLvlStrCache>
            </c:multiLvlStrRef>
          </c:cat>
          <c:val>
            <c:numRef>
              <c:f>Sheet1!$B$2:$B$11</c:f>
              <c:numCache>
                <c:formatCode>General</c:formatCode>
                <c:ptCount val="10"/>
                <c:pt idx="0">
                  <c:v>1.2</c:v>
                </c:pt>
                <c:pt idx="1">
                  <c:v>2.65</c:v>
                </c:pt>
                <c:pt idx="2">
                  <c:v>0.9</c:v>
                </c:pt>
                <c:pt idx="3">
                  <c:v>0.65</c:v>
                </c:pt>
                <c:pt idx="4">
                  <c:v>0.4</c:v>
                </c:pt>
                <c:pt idx="5">
                  <c:v>0.75</c:v>
                </c:pt>
                <c:pt idx="6">
                  <c:v>0.5</c:v>
                </c:pt>
                <c:pt idx="7">
                  <c:v>1.1</c:v>
                </c:pt>
                <c:pt idx="8">
                  <c:v>2</c:v>
                </c:pt>
                <c:pt idx="9">
                  <c:v>0.35</c:v>
                </c:pt>
              </c:numCache>
            </c:numRef>
          </c:val>
        </c:ser>
        <c:ser>
          <c:idx val="1"/>
          <c:order val="1"/>
          <c:tx>
            <c:strRef>
              <c:f>Sheet1!$C$1</c:f>
              <c:strCache>
                <c:ptCount val="1"/>
                <c:pt idx="0">
                  <c:v>Actual spend</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PRJ-001</c:v>
                  </c:pt>
                  <c:pt idx="1">
                    <c:v>PRJ-002</c:v>
                  </c:pt>
                  <c:pt idx="2">
                    <c:v>PRJ-003</c:v>
                  </c:pt>
                  <c:pt idx="3">
                    <c:v>PRJ-004</c:v>
                  </c:pt>
                  <c:pt idx="4">
                    <c:v>PRJ-005</c:v>
                  </c:pt>
                  <c:pt idx="5">
                    <c:v>PRJ-006</c:v>
                  </c:pt>
                  <c:pt idx="6">
                    <c:v>PRJ-007</c:v>
                  </c:pt>
                  <c:pt idx="7">
                    <c:v>PRJ-008</c:v>
                  </c:pt>
                  <c:pt idx="8">
                    <c:v>PRJ-009</c:v>
                  </c:pt>
                  <c:pt idx="9">
                    <c:v>PRJ-010</c:v>
                  </c:pt>
                </c:lvl>
              </c:multiLvlStrCache>
            </c:multiLvlStrRef>
          </c:cat>
          <c:val>
            <c:numRef>
              <c:f>Sheet1!$C$2:$C$11</c:f>
              <c:numCache>
                <c:formatCode>General</c:formatCode>
                <c:ptCount val="10"/>
                <c:pt idx="0">
                  <c:v>0.66</c:v>
                </c:pt>
                <c:pt idx="1">
                  <c:v>2</c:v>
                </c:pt>
                <c:pt idx="2">
                  <c:v>0.837</c:v>
                </c:pt>
                <c:pt idx="3">
                  <c:v>0</c:v>
                </c:pt>
                <c:pt idx="4">
                  <c:v>0.388</c:v>
                </c:pt>
                <c:pt idx="5">
                  <c:v>0.3375</c:v>
                </c:pt>
                <c:pt idx="6">
                  <c:v>0.15</c:v>
                </c:pt>
                <c:pt idx="7">
                  <c:v>0.033</c:v>
                </c:pt>
                <c:pt idx="8">
                  <c:v>1.404</c:v>
                </c:pt>
                <c:pt idx="9">
                  <c:v>0.217</c:v>
                </c:pt>
              </c:numCache>
            </c:numRef>
          </c:val>
        </c:ser>
        <c:ser>
          <c:idx val="2"/>
          <c:order val="2"/>
          <c:tx>
            <c:strRef>
              <c:f>Sheet1!$D$1</c:f>
              <c:strCache>
                <c:ptCount val="1"/>
                <c:pt idx="0">
                  <c:v>EAC (forecast)</c:v>
                </c:pt>
              </c:strCache>
            </c:strRef>
          </c:tx>
          <c:spPr>
            <a:solidFill>
              <a:srgbClr val="1BAF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PRJ-001</c:v>
                  </c:pt>
                  <c:pt idx="1">
                    <c:v>PRJ-002</c:v>
                  </c:pt>
                  <c:pt idx="2">
                    <c:v>PRJ-003</c:v>
                  </c:pt>
                  <c:pt idx="3">
                    <c:v>PRJ-004</c:v>
                  </c:pt>
                  <c:pt idx="4">
                    <c:v>PRJ-005</c:v>
                  </c:pt>
                  <c:pt idx="5">
                    <c:v>PRJ-006</c:v>
                  </c:pt>
                  <c:pt idx="6">
                    <c:v>PRJ-007</c:v>
                  </c:pt>
                  <c:pt idx="7">
                    <c:v>PRJ-008</c:v>
                  </c:pt>
                  <c:pt idx="8">
                    <c:v>PRJ-009</c:v>
                  </c:pt>
                  <c:pt idx="9">
                    <c:v>PRJ-010</c:v>
                  </c:pt>
                </c:lvl>
              </c:multiLvlStrCache>
            </c:multiLvlStrRef>
          </c:cat>
          <c:val>
            <c:numRef>
              <c:f>Sheet1!$D$2:$D$11</c:f>
              <c:numCache>
                <c:formatCode>General</c:formatCode>
                <c:ptCount val="10"/>
                <c:pt idx="0">
                  <c:v>1.14</c:v>
                </c:pt>
                <c:pt idx="1">
                  <c:v>3</c:v>
                </c:pt>
                <c:pt idx="2">
                  <c:v>0.887</c:v>
                </c:pt>
                <c:pt idx="3">
                  <c:v>0.6</c:v>
                </c:pt>
                <c:pt idx="4">
                  <c:v>0.388</c:v>
                </c:pt>
                <c:pt idx="5">
                  <c:v>0.7175</c:v>
                </c:pt>
                <c:pt idx="6">
                  <c:v>0.37</c:v>
                </c:pt>
                <c:pt idx="7">
                  <c:v>0.033</c:v>
                </c:pt>
                <c:pt idx="8">
                  <c:v>1.854</c:v>
                </c:pt>
                <c:pt idx="9">
                  <c:v>0.377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8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PMO today works from spreadsheets, emails and individual trackers, so leadership has no trusted view of delivery health or cost exposure. I built a working portal: operational teams maintain projects, tasks, risks, change requests and costs; management gets a live dashboard calculated from the same SQL database. Everything you will see is running code, not 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modules share users, project ids and business rules in one PostgreSQL database - no disconnected pages. The six business journeys from the brief all run end to end: create a project, update a task, update a milestone or risk, post a cost, approve a change request, and drill from a dashboard KPI to its records. Permissions are enforced by the API: a contributor calling the approval or cost-posting endpoint directly gets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flow browser → API → database. In the API every request gets an ID that appears in logs, audit events and error messages. Routes only validate input; all business rules live in one service file per module, so any rule can be found and changed in one place. Critical rules are repeated in PostgreSQL itself, so even a buggy endpoint or a manual SQL statement cannot self-approve or delete a posted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is a real module, not just a chart: budgets, budget revisions with approval, draft and posted costs, monthly forecasts. The formulas live in ONE SQL query shared by the project finance page and the dashboard, so the two can never disagree. Each one-to-many table - revisions, costs, forecasts - is summed per project before joining, so totals are never inflated. PRJ-002 shows why this matters: actual spend looks fine at 75%, but the forecast pushes EAC to 3.0M against a 2.65M budget, and the system flags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API call returns every KPI and chart, computed in SQL for the projects the user may see and the filters selected. Click Actual spend and you get the 114 posted transactions that add up to exactly AED 6,026,500. The brief asks that the dashboard recompute after a task update and a new posted cost, with no client-side patching - both were tested in the browser. Power BI was not delivered; instead I reconciled four KPIs between hand-written SQL and the web dashboard, unfiltered and filtered by department - all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automation finds overdue tasks and creates one in-app alert per task. The screenshot shows a demo run with a simulated failure: attempt 1 failed and was logged with its error, attempt 2 succeeded. Running it again creates zero new alerts, because every alert has a unique event key and the database ignores duplicates - so retries and parallel runs are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was a pair-programmer; I decided scope, stack and trade-offs and validated each phase on my own machine. The full log with prompts, results, what I accepted or rejected and the evidence is in docs/ai-development-log.md. Four real examples where the AI was wrong are on the right - each was caught by review, by comparing data, or by looking at the rendered screen. I can open any file and explain or change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automated tests run against a separate test database, so demo data is never touched; they cover role denial, self-approval, workflow history, finance formulas, drafts, and the automation. During development I also ran 49 API checks and 41 browser checks covering all six journeys. Everything runs locally with Docker in a few commands. I was open about scope: Power BI and Access were not delivered, and I listed the next security improvements. Happy to demo any journey or change something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6868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PMO Portfolio Portal  ·  eMinds assessment  ·  Shoeb Shaikh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bg1"/>
                </a:solidFill>
              </a:rPr>
              <a:t>Project Portfolio &amp; Financial Control Portal</a:t>
            </a:r>
            <a:endParaRPr lang="en-US" sz="3600" dirty="0"/>
          </a:p>
        </p:txBody>
      </p:sp>
      <p:sp>
        <p:nvSpPr>
          <p:cNvPr id="3" name="Text 1"/>
          <p:cNvSpPr txBox="1"/>
          <p:nvPr/>
        </p:nvSpPr>
        <p:spPr>
          <a:xfrm>
            <a:off x="548640" y="1371600"/>
            <a:ext cx="5669280" cy="822960"/>
          </a:xfrm>
          <a:prstGeom prst="rect">
            <a:avLst/>
          </a:prstGeom>
          <a:noFill/>
          <a:ln/>
        </p:spPr>
        <p:txBody>
          <a:bodyPr wrap="square" lIns="0" tIns="0" rIns="0" bIns="0" rtlCol="0" anchor="ctr"/>
          <a:lstStyle/>
          <a:p>
            <a:pPr indent="0" marL="0">
              <a:buNone/>
            </a:pPr>
            <a:r>
              <a:rPr lang="en-US" sz="1800" dirty="0">
                <a:solidFill>
                  <a:srgbClr val="C7D2FE"/>
                </a:solidFill>
              </a:rPr>
              <a:t>One trusted view of delivery, risk and cost - built as a working full-stack application</a:t>
            </a:r>
            <a:endParaRPr lang="en-US" sz="1800" dirty="0"/>
          </a:p>
        </p:txBody>
      </p:sp>
      <p:sp>
        <p:nvSpPr>
          <p:cNvPr id="4" name="value-0"/>
          <p:cNvSpPr/>
          <p:nvPr/>
        </p:nvSpPr>
        <p:spPr>
          <a:xfrm>
            <a:off x="548640" y="2514600"/>
            <a:ext cx="5669280" cy="777240"/>
          </a:xfrm>
          <a:prstGeom prst="roundRect">
            <a:avLst>
              <a:gd name="adj" fmla="val 9412"/>
            </a:avLst>
          </a:prstGeom>
          <a:solidFill>
            <a:srgbClr val="1E293B"/>
          </a:solidFill>
          <a:ln w="12700">
            <a:solidFill>
              <a:srgbClr val="1E293B"/>
            </a:solidFill>
            <a:prstDash val="solid"/>
          </a:ln>
        </p:spPr>
      </p:sp>
      <p:sp>
        <p:nvSpPr>
          <p:cNvPr id="5" name="Text 3"/>
          <p:cNvSpPr txBox="1"/>
          <p:nvPr/>
        </p:nvSpPr>
        <p:spPr>
          <a:xfrm>
            <a:off x="777240" y="2587752"/>
            <a:ext cx="5303520" cy="640080"/>
          </a:xfrm>
          <a:prstGeom prst="rect">
            <a:avLst/>
          </a:prstGeom>
          <a:noFill/>
          <a:ln/>
        </p:spPr>
        <p:txBody>
          <a:bodyPr wrap="square" lIns="0" tIns="0" rIns="0" bIns="0" rtlCol="0" anchor="ctr"/>
          <a:lstStyle/>
          <a:p>
            <a:pPr indent="0" marL="0">
              <a:buNone/>
            </a:pPr>
            <a:r>
              <a:rPr lang="en-US" sz="1400" dirty="0">
                <a:solidFill>
                  <a:srgbClr val="94A3B8"/>
                </a:solidFill>
              </a:rPr>
              <a:t>Spreadsheets, emails, trackers</a:t>
            </a:r>
            <a:endParaRPr lang="en-US" sz="1400" dirty="0"/>
          </a:p>
          <a:p>
            <a:pPr indent="0" marL="0">
              <a:buNone/>
            </a:pPr>
            <a:r>
              <a:rPr lang="en-US" sz="1600" b="1" dirty="0">
                <a:solidFill>
                  <a:srgbClr val="FFFFFF"/>
                </a:solidFill>
              </a:rPr>
              <a:t>→  One PostgreSQL source of truth</a:t>
            </a:r>
            <a:endParaRPr lang="en-US" sz="1400" dirty="0"/>
          </a:p>
        </p:txBody>
      </p:sp>
      <p:sp>
        <p:nvSpPr>
          <p:cNvPr id="6" name="value-1"/>
          <p:cNvSpPr/>
          <p:nvPr/>
        </p:nvSpPr>
        <p:spPr>
          <a:xfrm>
            <a:off x="548640" y="3474720"/>
            <a:ext cx="5669280" cy="777240"/>
          </a:xfrm>
          <a:prstGeom prst="roundRect">
            <a:avLst>
              <a:gd name="adj" fmla="val 9412"/>
            </a:avLst>
          </a:prstGeom>
          <a:solidFill>
            <a:srgbClr val="1E293B"/>
          </a:solidFill>
          <a:ln w="12700">
            <a:solidFill>
              <a:srgbClr val="1E293B"/>
            </a:solidFill>
            <a:prstDash val="solid"/>
          </a:ln>
        </p:spPr>
      </p:sp>
      <p:sp>
        <p:nvSpPr>
          <p:cNvPr id="7" name="Text 5"/>
          <p:cNvSpPr txBox="1"/>
          <p:nvPr/>
        </p:nvSpPr>
        <p:spPr>
          <a:xfrm>
            <a:off x="777240" y="3547872"/>
            <a:ext cx="5303520" cy="640080"/>
          </a:xfrm>
          <a:prstGeom prst="rect">
            <a:avLst/>
          </a:prstGeom>
          <a:noFill/>
          <a:ln/>
        </p:spPr>
        <p:txBody>
          <a:bodyPr wrap="square" lIns="0" tIns="0" rIns="0" bIns="0" rtlCol="0" anchor="ctr"/>
          <a:lstStyle/>
          <a:p>
            <a:pPr indent="0" marL="0">
              <a:buNone/>
            </a:pPr>
            <a:r>
              <a:rPr lang="en-US" sz="1400" dirty="0">
                <a:solidFill>
                  <a:srgbClr val="94A3B8"/>
                </a:solidFill>
              </a:rPr>
              <a:t>No trusted view of health or cost</a:t>
            </a:r>
            <a:endParaRPr lang="en-US" sz="1400" dirty="0"/>
          </a:p>
          <a:p>
            <a:pPr indent="0" marL="0">
              <a:buNone/>
            </a:pPr>
            <a:r>
              <a:rPr lang="en-US" sz="1600" b="1" dirty="0">
                <a:solidFill>
                  <a:srgbClr val="FFFFFF"/>
                </a:solidFill>
              </a:rPr>
              <a:t>→  Live KPIs with drill-down to records</a:t>
            </a:r>
            <a:endParaRPr lang="en-US" sz="1400" dirty="0"/>
          </a:p>
        </p:txBody>
      </p:sp>
      <p:sp>
        <p:nvSpPr>
          <p:cNvPr id="8" name="value-2"/>
          <p:cNvSpPr/>
          <p:nvPr/>
        </p:nvSpPr>
        <p:spPr>
          <a:xfrm>
            <a:off x="548640" y="4434840"/>
            <a:ext cx="5669280" cy="777240"/>
          </a:xfrm>
          <a:prstGeom prst="roundRect">
            <a:avLst>
              <a:gd name="adj" fmla="val 9412"/>
            </a:avLst>
          </a:prstGeom>
          <a:solidFill>
            <a:srgbClr val="1E293B"/>
          </a:solidFill>
          <a:ln w="12700">
            <a:solidFill>
              <a:srgbClr val="1E293B"/>
            </a:solidFill>
            <a:prstDash val="solid"/>
          </a:ln>
        </p:spPr>
      </p:sp>
      <p:sp>
        <p:nvSpPr>
          <p:cNvPr id="9" name="Text 7"/>
          <p:cNvSpPr txBox="1"/>
          <p:nvPr/>
        </p:nvSpPr>
        <p:spPr>
          <a:xfrm>
            <a:off x="777240" y="4507992"/>
            <a:ext cx="5303520" cy="640080"/>
          </a:xfrm>
          <a:prstGeom prst="rect">
            <a:avLst/>
          </a:prstGeom>
          <a:noFill/>
          <a:ln/>
        </p:spPr>
        <p:txBody>
          <a:bodyPr wrap="square" lIns="0" tIns="0" rIns="0" bIns="0" rtlCol="0" anchor="ctr"/>
          <a:lstStyle/>
          <a:p>
            <a:pPr indent="0" marL="0">
              <a:buNone/>
            </a:pPr>
            <a:r>
              <a:rPr lang="en-US" sz="1400" dirty="0">
                <a:solidFill>
                  <a:srgbClr val="94A3B8"/>
                </a:solidFill>
              </a:rPr>
              <a:t>Manual chasing of late work</a:t>
            </a:r>
            <a:endParaRPr lang="en-US" sz="1400" dirty="0"/>
          </a:p>
          <a:p>
            <a:pPr indent="0" marL="0">
              <a:buNone/>
            </a:pPr>
            <a:r>
              <a:rPr lang="en-US" sz="1600" b="1" dirty="0">
                <a:solidFill>
                  <a:srgbClr val="FFFFFF"/>
                </a:solidFill>
              </a:rPr>
              <a:t>→  Automated overdue-task alerts</a:t>
            </a:r>
            <a:endParaRPr lang="en-US" sz="1400" dirty="0"/>
          </a:p>
        </p:txBody>
      </p:sp>
      <p:sp>
        <p:nvSpPr>
          <p:cNvPr id="10" name="Text 8"/>
          <p:cNvSpPr txBox="1"/>
          <p:nvPr/>
        </p:nvSpPr>
        <p:spPr>
          <a:xfrm>
            <a:off x="548640" y="6172200"/>
            <a:ext cx="5943600" cy="320040"/>
          </a:xfrm>
          <a:prstGeom prst="rect">
            <a:avLst/>
          </a:prstGeom>
          <a:noFill/>
          <a:ln/>
        </p:spPr>
        <p:txBody>
          <a:bodyPr wrap="square" lIns="0" tIns="0" rIns="0" bIns="0" rtlCol="0" anchor="ctr"/>
          <a:lstStyle/>
          <a:p>
            <a:pPr indent="0" marL="0">
              <a:buNone/>
            </a:pPr>
            <a:r>
              <a:rPr lang="en-US" sz="1200" dirty="0">
                <a:solidFill>
                  <a:srgbClr val="94A3B8"/>
                </a:solidFill>
              </a:rPr>
              <a:t>Shoeb Shaikh  ·  Full Stack Developer assessment  ·  October 2026</a:t>
            </a:r>
            <a:endParaRPr lang="en-US" sz="1200" dirty="0"/>
          </a:p>
        </p:txBody>
      </p:sp>
      <p:pic>
        <p:nvPicPr>
          <p:cNvPr id="11" name="hero-screenshot" descr="/tmp/claude-0/-home-claude/71164dcf-2911-55e4-9dd5-e1a7ff060bf4/scratchpad/deck/dashboard_crop.png">    </p:cNvPr>
          <p:cNvPicPr>
            <a:picLocks noChangeAspect="1"/>
          </p:cNvPicPr>
          <p:nvPr/>
        </p:nvPicPr>
        <p:blipFill>
          <a:blip r:embed="rId1"/>
          <a:stretch>
            <a:fillRect/>
          </a:stretch>
        </p:blipFill>
        <p:spPr>
          <a:xfrm>
            <a:off x="6583680" y="1371600"/>
            <a:ext cx="5074920" cy="34361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600" b="1" dirty="0">
                <a:solidFill>
                  <a:schemeClr val="tx1"/>
                </a:solidFill>
              </a:rPr>
              <a:t>Seven connected modules on one database</a:t>
            </a:r>
            <a:endParaRPr lang="en-US" sz="3600" dirty="0"/>
          </a:p>
        </p:txBody>
      </p:sp>
      <p:sp>
        <p:nvSpPr>
          <p:cNvPr id="3" name="module-0"/>
          <p:cNvSpPr/>
          <p:nvPr/>
        </p:nvSpPr>
        <p:spPr>
          <a:xfrm>
            <a:off x="548640" y="1417320"/>
            <a:ext cx="2651760" cy="2194560"/>
          </a:xfrm>
          <a:prstGeom prst="roundRect">
            <a:avLst>
              <a:gd name="adj" fmla="val 4167"/>
            </a:avLst>
          </a:prstGeom>
          <a:solidFill>
            <a:schemeClr val="bg2"/>
          </a:solidFill>
          <a:ln w="12700">
            <a:solidFill>
              <a:schemeClr val="bg2"/>
            </a:solidFill>
            <a:prstDash val="solid"/>
          </a:ln>
        </p:spPr>
      </p:sp>
      <p:sp>
        <p:nvSpPr>
          <p:cNvPr id="4" name="badge-LuFolderKanban"/>
          <p:cNvSpPr/>
          <p:nvPr/>
        </p:nvSpPr>
        <p:spPr>
          <a:xfrm>
            <a:off x="777240" y="1645920"/>
            <a:ext cx="548640" cy="5486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97941" y="1766621"/>
            <a:ext cx="307238" cy="307238"/>
          </a:xfrm>
          <a:prstGeom prst="rect">
            <a:avLst/>
          </a:prstGeom>
        </p:spPr>
      </p:pic>
      <p:sp>
        <p:nvSpPr>
          <p:cNvPr id="6" name="Text 3"/>
          <p:cNvSpPr txBox="1"/>
          <p:nvPr/>
        </p:nvSpPr>
        <p:spPr>
          <a:xfrm>
            <a:off x="777240" y="233172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Project portfolio</a:t>
            </a:r>
            <a:endParaRPr lang="en-US" sz="1800" dirty="0"/>
          </a:p>
        </p:txBody>
      </p:sp>
      <p:sp>
        <p:nvSpPr>
          <p:cNvPr id="7" name="Text 4"/>
          <p:cNvSpPr txBox="1"/>
          <p:nvPr/>
        </p:nvSpPr>
        <p:spPr>
          <a:xfrm>
            <a:off x="777240" y="2715768"/>
            <a:ext cx="2194560" cy="822960"/>
          </a:xfrm>
          <a:prstGeom prst="rect">
            <a:avLst/>
          </a:prstGeom>
          <a:noFill/>
          <a:ln/>
        </p:spPr>
        <p:txBody>
          <a:bodyPr wrap="square" lIns="0" tIns="0" rIns="0" bIns="0" rtlCol="0" anchor="t"/>
          <a:lstStyle/>
          <a:p>
            <a:pPr indent="0" marL="0">
              <a:buNone/>
            </a:pPr>
            <a:r>
              <a:rPr lang="en-US" sz="1400" dirty="0">
                <a:solidFill>
                  <a:schemeClr val="tx2"/>
                </a:solidFill>
              </a:rPr>
              <a:t>Create, edit, search and filter by department, owner, status and dates</a:t>
            </a:r>
            <a:endParaRPr lang="en-US" sz="1400" dirty="0"/>
          </a:p>
        </p:txBody>
      </p:sp>
      <p:sp>
        <p:nvSpPr>
          <p:cNvPr id="8" name="module-1"/>
          <p:cNvSpPr/>
          <p:nvPr/>
        </p:nvSpPr>
        <p:spPr>
          <a:xfrm>
            <a:off x="3383280" y="1417320"/>
            <a:ext cx="2651760" cy="2194560"/>
          </a:xfrm>
          <a:prstGeom prst="roundRect">
            <a:avLst>
              <a:gd name="adj" fmla="val 4167"/>
            </a:avLst>
          </a:prstGeom>
          <a:solidFill>
            <a:schemeClr val="bg2"/>
          </a:solidFill>
          <a:ln w="12700">
            <a:solidFill>
              <a:schemeClr val="bg2"/>
            </a:solidFill>
            <a:prstDash val="solid"/>
          </a:ln>
        </p:spPr>
      </p:sp>
      <p:sp>
        <p:nvSpPr>
          <p:cNvPr id="9" name="badge-LuListChecks"/>
          <p:cNvSpPr/>
          <p:nvPr/>
        </p:nvSpPr>
        <p:spPr>
          <a:xfrm>
            <a:off x="3611880" y="1645920"/>
            <a:ext cx="548640" cy="54864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732581" y="1766621"/>
            <a:ext cx="307238" cy="307238"/>
          </a:xfrm>
          <a:prstGeom prst="rect">
            <a:avLst/>
          </a:prstGeom>
        </p:spPr>
      </p:pic>
      <p:sp>
        <p:nvSpPr>
          <p:cNvPr id="11" name="Text 7"/>
          <p:cNvSpPr txBox="1"/>
          <p:nvPr/>
        </p:nvSpPr>
        <p:spPr>
          <a:xfrm>
            <a:off x="3611880" y="233172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Tasks &amp; milestones</a:t>
            </a:r>
            <a:endParaRPr lang="en-US" sz="1800" dirty="0"/>
          </a:p>
        </p:txBody>
      </p:sp>
      <p:sp>
        <p:nvSpPr>
          <p:cNvPr id="12" name="Text 8"/>
          <p:cNvSpPr txBox="1"/>
          <p:nvPr/>
        </p:nvSpPr>
        <p:spPr>
          <a:xfrm>
            <a:off x="3611880" y="2715768"/>
            <a:ext cx="2194560" cy="822960"/>
          </a:xfrm>
          <a:prstGeom prst="rect">
            <a:avLst/>
          </a:prstGeom>
          <a:noFill/>
          <a:ln/>
        </p:spPr>
        <p:txBody>
          <a:bodyPr wrap="square" lIns="0" tIns="0" rIns="0" bIns="0" rtlCol="0" anchor="t"/>
          <a:lstStyle/>
          <a:p>
            <a:pPr indent="0" marL="0">
              <a:buNone/>
            </a:pPr>
            <a:r>
              <a:rPr lang="en-US" sz="1400" dirty="0">
                <a:solidFill>
                  <a:schemeClr val="tx2"/>
                </a:solidFill>
              </a:rPr>
              <a:t>Weighted progress, overdue and due-soon flags, assignee updates</a:t>
            </a:r>
            <a:endParaRPr lang="en-US" sz="1400" dirty="0"/>
          </a:p>
        </p:txBody>
      </p:sp>
      <p:sp>
        <p:nvSpPr>
          <p:cNvPr id="13" name="module-2"/>
          <p:cNvSpPr/>
          <p:nvPr/>
        </p:nvSpPr>
        <p:spPr>
          <a:xfrm>
            <a:off x="6217920" y="1417320"/>
            <a:ext cx="2651760" cy="2194560"/>
          </a:xfrm>
          <a:prstGeom prst="roundRect">
            <a:avLst>
              <a:gd name="adj" fmla="val 4167"/>
            </a:avLst>
          </a:prstGeom>
          <a:solidFill>
            <a:schemeClr val="bg2"/>
          </a:solidFill>
          <a:ln w="12700">
            <a:solidFill>
              <a:schemeClr val="bg2"/>
            </a:solidFill>
            <a:prstDash val="solid"/>
          </a:ln>
        </p:spPr>
      </p:sp>
      <p:sp>
        <p:nvSpPr>
          <p:cNvPr id="14" name="badge-LuTriangleAlert"/>
          <p:cNvSpPr/>
          <p:nvPr/>
        </p:nvSpPr>
        <p:spPr>
          <a:xfrm>
            <a:off x="6446520" y="1645920"/>
            <a:ext cx="548640" cy="54864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567221" y="1766621"/>
            <a:ext cx="307238" cy="307238"/>
          </a:xfrm>
          <a:prstGeom prst="rect">
            <a:avLst/>
          </a:prstGeom>
        </p:spPr>
      </p:pic>
      <p:sp>
        <p:nvSpPr>
          <p:cNvPr id="16" name="Text 11"/>
          <p:cNvSpPr txBox="1"/>
          <p:nvPr/>
        </p:nvSpPr>
        <p:spPr>
          <a:xfrm>
            <a:off x="6446520" y="233172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Risks &amp; issues</a:t>
            </a:r>
            <a:endParaRPr lang="en-US" sz="1800" dirty="0"/>
          </a:p>
        </p:txBody>
      </p:sp>
      <p:sp>
        <p:nvSpPr>
          <p:cNvPr id="17" name="Text 12"/>
          <p:cNvSpPr txBox="1"/>
          <p:nvPr/>
        </p:nvSpPr>
        <p:spPr>
          <a:xfrm>
            <a:off x="6446520" y="2715768"/>
            <a:ext cx="2194560" cy="822960"/>
          </a:xfrm>
          <a:prstGeom prst="rect">
            <a:avLst/>
          </a:prstGeom>
          <a:noFill/>
          <a:ln/>
        </p:spPr>
        <p:txBody>
          <a:bodyPr wrap="square" lIns="0" tIns="0" rIns="0" bIns="0" rtlCol="0" anchor="t"/>
          <a:lstStyle/>
          <a:p>
            <a:pPr indent="0" marL="0">
              <a:buNone/>
            </a:pPr>
            <a:r>
              <a:rPr lang="en-US" sz="1400" dirty="0">
                <a:solidFill>
                  <a:schemeClr val="tx2"/>
                </a:solidFill>
              </a:rPr>
              <a:t>Score = probability × impact; open high-exposure items surfaced</a:t>
            </a:r>
            <a:endParaRPr lang="en-US" sz="1400" dirty="0"/>
          </a:p>
        </p:txBody>
      </p:sp>
      <p:sp>
        <p:nvSpPr>
          <p:cNvPr id="18" name="module-3"/>
          <p:cNvSpPr/>
          <p:nvPr/>
        </p:nvSpPr>
        <p:spPr>
          <a:xfrm>
            <a:off x="9052560" y="1417320"/>
            <a:ext cx="2651760" cy="2194560"/>
          </a:xfrm>
          <a:prstGeom prst="roundRect">
            <a:avLst>
              <a:gd name="adj" fmla="val 4167"/>
            </a:avLst>
          </a:prstGeom>
          <a:solidFill>
            <a:schemeClr val="bg2"/>
          </a:solidFill>
          <a:ln w="12700">
            <a:solidFill>
              <a:schemeClr val="bg2"/>
            </a:solidFill>
            <a:prstDash val="solid"/>
          </a:ln>
        </p:spPr>
      </p:sp>
      <p:sp>
        <p:nvSpPr>
          <p:cNvPr id="19" name="badge-LuGitPullRequest"/>
          <p:cNvSpPr/>
          <p:nvPr/>
        </p:nvSpPr>
        <p:spPr>
          <a:xfrm>
            <a:off x="9281160" y="1645920"/>
            <a:ext cx="548640" cy="54864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9401861" y="1766621"/>
            <a:ext cx="307238" cy="307238"/>
          </a:xfrm>
          <a:prstGeom prst="rect">
            <a:avLst/>
          </a:prstGeom>
        </p:spPr>
      </p:pic>
      <p:sp>
        <p:nvSpPr>
          <p:cNvPr id="21" name="Text 15"/>
          <p:cNvSpPr txBox="1"/>
          <p:nvPr/>
        </p:nvSpPr>
        <p:spPr>
          <a:xfrm>
            <a:off x="9281160" y="233172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Change requests</a:t>
            </a:r>
            <a:endParaRPr lang="en-US" sz="1800" dirty="0"/>
          </a:p>
        </p:txBody>
      </p:sp>
      <p:sp>
        <p:nvSpPr>
          <p:cNvPr id="22" name="Text 16"/>
          <p:cNvSpPr txBox="1"/>
          <p:nvPr/>
        </p:nvSpPr>
        <p:spPr>
          <a:xfrm>
            <a:off x="9281160" y="2715768"/>
            <a:ext cx="2194560" cy="822960"/>
          </a:xfrm>
          <a:prstGeom prst="rect">
            <a:avLst/>
          </a:prstGeom>
          <a:noFill/>
          <a:ln/>
        </p:spPr>
        <p:txBody>
          <a:bodyPr wrap="square" lIns="0" tIns="0" rIns="0" bIns="0" rtlCol="0" anchor="t"/>
          <a:lstStyle/>
          <a:p>
            <a:pPr indent="0" marL="0">
              <a:buNone/>
            </a:pPr>
            <a:r>
              <a:rPr lang="en-US" sz="1400" dirty="0">
                <a:solidFill>
                  <a:schemeClr val="tx2"/>
                </a:solidFill>
              </a:rPr>
              <a:t>Approve, reject or return with a reason; no self-approval; full history</a:t>
            </a:r>
            <a:endParaRPr lang="en-US" sz="1400" dirty="0"/>
          </a:p>
        </p:txBody>
      </p:sp>
      <p:sp>
        <p:nvSpPr>
          <p:cNvPr id="23" name="module-4"/>
          <p:cNvSpPr/>
          <p:nvPr/>
        </p:nvSpPr>
        <p:spPr>
          <a:xfrm>
            <a:off x="548640" y="3794760"/>
            <a:ext cx="2651760" cy="2194560"/>
          </a:xfrm>
          <a:prstGeom prst="roundRect">
            <a:avLst>
              <a:gd name="adj" fmla="val 4167"/>
            </a:avLst>
          </a:prstGeom>
          <a:solidFill>
            <a:schemeClr val="bg2"/>
          </a:solidFill>
          <a:ln w="12700">
            <a:solidFill>
              <a:schemeClr val="bg2"/>
            </a:solidFill>
            <a:prstDash val="solid"/>
          </a:ln>
        </p:spPr>
      </p:sp>
      <p:sp>
        <p:nvSpPr>
          <p:cNvPr id="24" name="badge-LuWallet"/>
          <p:cNvSpPr/>
          <p:nvPr/>
        </p:nvSpPr>
        <p:spPr>
          <a:xfrm>
            <a:off x="777240" y="4023360"/>
            <a:ext cx="548640" cy="548640"/>
          </a:xfrm>
          <a:prstGeom prst="ellipse">
            <a:avLst/>
          </a:prstGeom>
          <a:solidFill>
            <a:schemeClr val="accent1"/>
          </a:solidFill>
          <a:ln w="12700">
            <a:solidFill>
              <a:schemeClr val="accent1"/>
            </a:solidFill>
            <a:prstDash val="solid"/>
          </a:ln>
        </p:spPr>
      </p:sp>
      <p:pic>
        <p:nvPicPr>
          <p:cNvPr id="25" name="Image 4" descr="preencoded.png">    </p:cNvPr>
          <p:cNvPicPr>
            <a:picLocks noChangeAspect="1"/>
          </p:cNvPicPr>
          <p:nvPr/>
        </p:nvPicPr>
        <p:blipFill>
          <a:blip r:embed="rId5"/>
          <a:stretch>
            <a:fillRect/>
          </a:stretch>
        </p:blipFill>
        <p:spPr>
          <a:xfrm>
            <a:off x="897941" y="4144061"/>
            <a:ext cx="307238" cy="307238"/>
          </a:xfrm>
          <a:prstGeom prst="rect">
            <a:avLst/>
          </a:prstGeom>
        </p:spPr>
      </p:pic>
      <p:sp>
        <p:nvSpPr>
          <p:cNvPr id="26" name="Text 19"/>
          <p:cNvSpPr txBox="1"/>
          <p:nvPr/>
        </p:nvSpPr>
        <p:spPr>
          <a:xfrm>
            <a:off x="777240" y="470916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Financial control</a:t>
            </a:r>
            <a:endParaRPr lang="en-US" sz="1800" dirty="0"/>
          </a:p>
        </p:txBody>
      </p:sp>
      <p:sp>
        <p:nvSpPr>
          <p:cNvPr id="27" name="Text 20"/>
          <p:cNvSpPr txBox="1"/>
          <p:nvPr/>
        </p:nvSpPr>
        <p:spPr>
          <a:xfrm>
            <a:off x="777240" y="5093208"/>
            <a:ext cx="2194560" cy="822960"/>
          </a:xfrm>
          <a:prstGeom prst="rect">
            <a:avLst/>
          </a:prstGeom>
          <a:noFill/>
          <a:ln/>
        </p:spPr>
        <p:txBody>
          <a:bodyPr wrap="square" lIns="0" tIns="0" rIns="0" bIns="0" rtlCol="0" anchor="t"/>
          <a:lstStyle/>
          <a:p>
            <a:pPr indent="0" marL="0">
              <a:buNone/>
            </a:pPr>
            <a:r>
              <a:rPr lang="en-US" sz="1400" dirty="0">
                <a:solidFill>
                  <a:schemeClr val="tx2"/>
                </a:solidFill>
              </a:rPr>
              <a:t>Budgets, revisions, draft vs posted costs, forecasts, EAC alerts</a:t>
            </a:r>
            <a:endParaRPr lang="en-US" sz="1400" dirty="0"/>
          </a:p>
        </p:txBody>
      </p:sp>
      <p:sp>
        <p:nvSpPr>
          <p:cNvPr id="28" name="module-5"/>
          <p:cNvSpPr/>
          <p:nvPr/>
        </p:nvSpPr>
        <p:spPr>
          <a:xfrm>
            <a:off x="3383280" y="3794760"/>
            <a:ext cx="2651760" cy="2194560"/>
          </a:xfrm>
          <a:prstGeom prst="roundRect">
            <a:avLst>
              <a:gd name="adj" fmla="val 4167"/>
            </a:avLst>
          </a:prstGeom>
          <a:solidFill>
            <a:schemeClr val="bg2"/>
          </a:solidFill>
          <a:ln w="12700">
            <a:solidFill>
              <a:schemeClr val="bg2"/>
            </a:solidFill>
            <a:prstDash val="solid"/>
          </a:ln>
        </p:spPr>
      </p:sp>
      <p:sp>
        <p:nvSpPr>
          <p:cNvPr id="29" name="badge-LuChartColumn"/>
          <p:cNvSpPr/>
          <p:nvPr/>
        </p:nvSpPr>
        <p:spPr>
          <a:xfrm>
            <a:off x="3611880" y="4023360"/>
            <a:ext cx="548640" cy="548640"/>
          </a:xfrm>
          <a:prstGeom prst="ellipse">
            <a:avLst/>
          </a:prstGeom>
          <a:solidFill>
            <a:schemeClr val="accent1"/>
          </a:solidFill>
          <a:ln w="12700">
            <a:solidFill>
              <a:schemeClr val="accent1"/>
            </a:solidFill>
            <a:prstDash val="solid"/>
          </a:ln>
        </p:spPr>
      </p:sp>
      <p:pic>
        <p:nvPicPr>
          <p:cNvPr id="30" name="Image 5" descr="preencoded.png">    </p:cNvPr>
          <p:cNvPicPr>
            <a:picLocks noChangeAspect="1"/>
          </p:cNvPicPr>
          <p:nvPr/>
        </p:nvPicPr>
        <p:blipFill>
          <a:blip r:embed="rId6"/>
          <a:stretch>
            <a:fillRect/>
          </a:stretch>
        </p:blipFill>
        <p:spPr>
          <a:xfrm>
            <a:off x="3732581" y="4144061"/>
            <a:ext cx="307238" cy="307238"/>
          </a:xfrm>
          <a:prstGeom prst="rect">
            <a:avLst/>
          </a:prstGeom>
        </p:spPr>
      </p:pic>
      <p:sp>
        <p:nvSpPr>
          <p:cNvPr id="31" name="Text 23"/>
          <p:cNvSpPr txBox="1"/>
          <p:nvPr/>
        </p:nvSpPr>
        <p:spPr>
          <a:xfrm>
            <a:off x="3611880" y="470916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Executive dashboard</a:t>
            </a:r>
            <a:endParaRPr lang="en-US" sz="1800" dirty="0"/>
          </a:p>
        </p:txBody>
      </p:sp>
      <p:sp>
        <p:nvSpPr>
          <p:cNvPr id="32" name="Text 24"/>
          <p:cNvSpPr txBox="1"/>
          <p:nvPr/>
        </p:nvSpPr>
        <p:spPr>
          <a:xfrm>
            <a:off x="3611880" y="5093208"/>
            <a:ext cx="2194560" cy="822960"/>
          </a:xfrm>
          <a:prstGeom prst="rect">
            <a:avLst/>
          </a:prstGeom>
          <a:noFill/>
          <a:ln/>
        </p:spPr>
        <p:txBody>
          <a:bodyPr wrap="square" lIns="0" tIns="0" rIns="0" bIns="0" rtlCol="0" anchor="t"/>
          <a:lstStyle/>
          <a:p>
            <a:pPr indent="0" marL="0">
              <a:buNone/>
            </a:pPr>
            <a:r>
              <a:rPr lang="en-US" sz="1400" dirty="0">
                <a:solidFill>
                  <a:schemeClr val="tx2"/>
                </a:solidFill>
              </a:rPr>
              <a:t>Live SQL KPIs, 7 visuals, 6 filters, drill-down to records</a:t>
            </a:r>
            <a:endParaRPr lang="en-US" sz="1400" dirty="0"/>
          </a:p>
        </p:txBody>
      </p:sp>
      <p:sp>
        <p:nvSpPr>
          <p:cNvPr id="33" name="module-6"/>
          <p:cNvSpPr/>
          <p:nvPr/>
        </p:nvSpPr>
        <p:spPr>
          <a:xfrm>
            <a:off x="6217920" y="3794760"/>
            <a:ext cx="2651760" cy="2194560"/>
          </a:xfrm>
          <a:prstGeom prst="roundRect">
            <a:avLst>
              <a:gd name="adj" fmla="val 4167"/>
            </a:avLst>
          </a:prstGeom>
          <a:solidFill>
            <a:schemeClr val="bg2"/>
          </a:solidFill>
          <a:ln w="12700">
            <a:solidFill>
              <a:schemeClr val="bg2"/>
            </a:solidFill>
            <a:prstDash val="solid"/>
          </a:ln>
        </p:spPr>
      </p:sp>
      <p:sp>
        <p:nvSpPr>
          <p:cNvPr id="34" name="badge-LuShieldCheck"/>
          <p:cNvSpPr/>
          <p:nvPr/>
        </p:nvSpPr>
        <p:spPr>
          <a:xfrm>
            <a:off x="6446520" y="4023360"/>
            <a:ext cx="548640" cy="548640"/>
          </a:xfrm>
          <a:prstGeom prst="ellipse">
            <a:avLst/>
          </a:prstGeom>
          <a:solidFill>
            <a:schemeClr val="accent1"/>
          </a:solidFill>
          <a:ln w="12700">
            <a:solidFill>
              <a:schemeClr val="accent1"/>
            </a:solidFill>
            <a:prstDash val="solid"/>
          </a:ln>
        </p:spPr>
      </p:sp>
      <p:pic>
        <p:nvPicPr>
          <p:cNvPr id="35" name="Image 6" descr="preencoded.png">    </p:cNvPr>
          <p:cNvPicPr>
            <a:picLocks noChangeAspect="1"/>
          </p:cNvPicPr>
          <p:nvPr/>
        </p:nvPicPr>
        <p:blipFill>
          <a:blip r:embed="rId7"/>
          <a:stretch>
            <a:fillRect/>
          </a:stretch>
        </p:blipFill>
        <p:spPr>
          <a:xfrm>
            <a:off x="6567221" y="4144061"/>
            <a:ext cx="307238" cy="307238"/>
          </a:xfrm>
          <a:prstGeom prst="rect">
            <a:avLst/>
          </a:prstGeom>
        </p:spPr>
      </p:pic>
      <p:sp>
        <p:nvSpPr>
          <p:cNvPr id="36" name="Text 27"/>
          <p:cNvSpPr txBox="1"/>
          <p:nvPr/>
        </p:nvSpPr>
        <p:spPr>
          <a:xfrm>
            <a:off x="6446520" y="470916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Access &amp; audit</a:t>
            </a:r>
            <a:endParaRPr lang="en-US" sz="1800" dirty="0"/>
          </a:p>
        </p:txBody>
      </p:sp>
      <p:sp>
        <p:nvSpPr>
          <p:cNvPr id="37" name="Text 28"/>
          <p:cNvSpPr txBox="1"/>
          <p:nvPr/>
        </p:nvSpPr>
        <p:spPr>
          <a:xfrm>
            <a:off x="6446520" y="5093208"/>
            <a:ext cx="2194560" cy="822960"/>
          </a:xfrm>
          <a:prstGeom prst="rect">
            <a:avLst/>
          </a:prstGeom>
          <a:noFill/>
          <a:ln/>
        </p:spPr>
        <p:txBody>
          <a:bodyPr wrap="square" lIns="0" tIns="0" rIns="0" bIns="0" rtlCol="0" anchor="t"/>
          <a:lstStyle/>
          <a:p>
            <a:pPr indent="0" marL="0">
              <a:buNone/>
            </a:pPr>
            <a:r>
              <a:rPr lang="en-US" sz="1400" dirty="0">
                <a:solidFill>
                  <a:schemeClr val="tx2"/>
                </a:solidFill>
              </a:rPr>
              <a:t>Secure login, project-scoped access, append-only audit log</a:t>
            </a:r>
            <a:endParaRPr lang="en-US" sz="1400" dirty="0"/>
          </a:p>
        </p:txBody>
      </p:sp>
      <p:sp>
        <p:nvSpPr>
          <p:cNvPr id="38" name="roles-card"/>
          <p:cNvSpPr/>
          <p:nvPr/>
        </p:nvSpPr>
        <p:spPr>
          <a:xfrm>
            <a:off x="9052560" y="3794760"/>
            <a:ext cx="2651760" cy="2194560"/>
          </a:xfrm>
          <a:prstGeom prst="roundRect">
            <a:avLst>
              <a:gd name="adj" fmla="val 4167"/>
            </a:avLst>
          </a:prstGeom>
          <a:solidFill>
            <a:schemeClr val="tx1"/>
          </a:solidFill>
          <a:ln w="12700">
            <a:solidFill>
              <a:schemeClr val="tx1"/>
            </a:solidFill>
            <a:prstDash val="solid"/>
          </a:ln>
        </p:spPr>
      </p:sp>
      <p:sp>
        <p:nvSpPr>
          <p:cNvPr id="39" name="badge-LuUsers"/>
          <p:cNvSpPr/>
          <p:nvPr/>
        </p:nvSpPr>
        <p:spPr>
          <a:xfrm>
            <a:off x="9281160" y="4023360"/>
            <a:ext cx="548640" cy="548640"/>
          </a:xfrm>
          <a:prstGeom prst="ellipse">
            <a:avLst/>
          </a:prstGeom>
          <a:solidFill>
            <a:schemeClr val="accent1"/>
          </a:solidFill>
          <a:ln w="12700">
            <a:solidFill>
              <a:schemeClr val="accent1"/>
            </a:solidFill>
            <a:prstDash val="solid"/>
          </a:ln>
        </p:spPr>
      </p:sp>
      <p:pic>
        <p:nvPicPr>
          <p:cNvPr id="40" name="Image 7" descr="preencoded.png">    </p:cNvPr>
          <p:cNvPicPr>
            <a:picLocks noChangeAspect="1"/>
          </p:cNvPicPr>
          <p:nvPr/>
        </p:nvPicPr>
        <p:blipFill>
          <a:blip r:embed="rId8"/>
          <a:stretch>
            <a:fillRect/>
          </a:stretch>
        </p:blipFill>
        <p:spPr>
          <a:xfrm>
            <a:off x="9401861" y="4144061"/>
            <a:ext cx="307238" cy="307238"/>
          </a:xfrm>
          <a:prstGeom prst="rect">
            <a:avLst/>
          </a:prstGeom>
        </p:spPr>
      </p:pic>
      <p:sp>
        <p:nvSpPr>
          <p:cNvPr id="41" name="Text 31"/>
          <p:cNvSpPr txBox="1"/>
          <p:nvPr/>
        </p:nvSpPr>
        <p:spPr>
          <a:xfrm>
            <a:off x="9281160" y="4663440"/>
            <a:ext cx="2286000" cy="365760"/>
          </a:xfrm>
          <a:prstGeom prst="rect">
            <a:avLst/>
          </a:prstGeom>
          <a:noFill/>
          <a:ln/>
        </p:spPr>
        <p:txBody>
          <a:bodyPr wrap="square" lIns="0" tIns="0" rIns="0" bIns="0" rtlCol="0" anchor="ctr"/>
          <a:lstStyle/>
          <a:p>
            <a:pPr indent="0" marL="0">
              <a:buNone/>
            </a:pPr>
            <a:r>
              <a:rPr lang="en-US" sz="1700" b="1" dirty="0">
                <a:solidFill>
                  <a:schemeClr val="bg1"/>
                </a:solidFill>
              </a:rPr>
              <a:t>3 roles, server-checked</a:t>
            </a:r>
            <a:endParaRPr lang="en-US" sz="1700" dirty="0"/>
          </a:p>
        </p:txBody>
      </p:sp>
      <p:sp>
        <p:nvSpPr>
          <p:cNvPr id="42" name="Text 32"/>
          <p:cNvSpPr txBox="1"/>
          <p:nvPr/>
        </p:nvSpPr>
        <p:spPr>
          <a:xfrm>
            <a:off x="9281160" y="5074920"/>
            <a:ext cx="2286000" cy="822960"/>
          </a:xfrm>
          <a:prstGeom prst="rect">
            <a:avLst/>
          </a:prstGeom>
          <a:noFill/>
          <a:ln/>
        </p:spPr>
        <p:txBody>
          <a:bodyPr wrap="square" lIns="0" tIns="0" rIns="0" bIns="0" rtlCol="0" anchor="t"/>
          <a:lstStyle/>
          <a:p>
            <a:pPr indent="0" marL="0">
              <a:spcAft>
                <a:spcPts val="200"/>
              </a:spcAft>
              <a:buNone/>
            </a:pPr>
            <a:r>
              <a:rPr lang="en-US" sz="1400" dirty="0">
                <a:solidFill>
                  <a:srgbClr val="CBD5E1"/>
                </a:solidFill>
              </a:rPr>
              <a:t>Contributor - own tasks</a:t>
            </a:r>
            <a:endParaRPr lang="en-US" sz="1400" dirty="0"/>
          </a:p>
          <a:p>
            <a:pPr indent="0" marL="0">
              <a:spcAft>
                <a:spcPts val="200"/>
              </a:spcAft>
              <a:buNone/>
            </a:pPr>
            <a:r>
              <a:rPr lang="en-US" sz="1400" dirty="0">
                <a:solidFill>
                  <a:srgbClr val="CBD5E1"/>
                </a:solidFill>
              </a:rPr>
              <a:t>Manager - own projects</a:t>
            </a:r>
            <a:endParaRPr lang="en-US" sz="1400" dirty="0"/>
          </a:p>
          <a:p>
            <a:pPr indent="0" marL="0">
              <a:spcAft>
                <a:spcPts val="200"/>
              </a:spcAft>
              <a:buNone/>
            </a:pPr>
            <a:r>
              <a:rPr lang="en-US" sz="1400" dirty="0">
                <a:solidFill>
                  <a:srgbClr val="CBD5E1"/>
                </a:solidFill>
              </a:rPr>
              <a:t>Admin - everything + audit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600" b="1" dirty="0">
                <a:solidFill>
                  <a:schemeClr val="tx1"/>
                </a:solidFill>
              </a:rPr>
              <a:t>Three layers; rules live in the API and the database</a:t>
            </a:r>
            <a:endParaRPr lang="en-US" sz="3600" dirty="0"/>
          </a:p>
        </p:txBody>
      </p:sp>
      <p:sp>
        <p:nvSpPr>
          <p:cNvPr id="3" name="arch-browser"/>
          <p:cNvSpPr/>
          <p:nvPr/>
        </p:nvSpPr>
        <p:spPr>
          <a:xfrm>
            <a:off x="548640" y="1417320"/>
            <a:ext cx="2926080" cy="1920240"/>
          </a:xfrm>
          <a:prstGeom prst="roundRect">
            <a:avLst>
              <a:gd name="adj" fmla="val 4762"/>
            </a:avLst>
          </a:prstGeom>
          <a:solidFill>
            <a:schemeClr val="bg2"/>
          </a:solidFill>
          <a:ln w="12700">
            <a:solidFill>
              <a:srgbClr val="CBD5E1"/>
            </a:solidFill>
            <a:prstDash val="solid"/>
          </a:ln>
        </p:spPr>
      </p:sp>
      <p:sp>
        <p:nvSpPr>
          <p:cNvPr id="4" name="Text 2"/>
          <p:cNvSpPr txBox="1"/>
          <p:nvPr/>
        </p:nvSpPr>
        <p:spPr>
          <a:xfrm>
            <a:off x="777240" y="1554480"/>
            <a:ext cx="2468880" cy="164592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rPr>
              <a:t>Browser</a:t>
            </a:r>
            <a:endParaRPr lang="en-US" sz="1800" dirty="0"/>
          </a:p>
          <a:p>
            <a:pPr indent="0" marL="0">
              <a:spcAft>
                <a:spcPts val="300"/>
              </a:spcAft>
              <a:buNone/>
            </a:pPr>
            <a:r>
              <a:rPr lang="en-US" sz="1400" dirty="0">
                <a:solidFill>
                  <a:srgbClr val="334155"/>
                </a:solidFill>
              </a:rPr>
              <a:t>React 19 + Vite + Tailwind</a:t>
            </a:r>
            <a:endParaRPr lang="en-US" sz="1800" dirty="0"/>
          </a:p>
          <a:p>
            <a:pPr indent="0" marL="0">
              <a:spcAft>
                <a:spcPts val="300"/>
              </a:spcAft>
              <a:buNone/>
            </a:pPr>
            <a:r>
              <a:rPr lang="en-US" sz="1400" dirty="0">
                <a:solidFill>
                  <a:srgbClr val="334155"/>
                </a:solidFill>
              </a:rPr>
              <a:t>TanStack Query refetches after every save</a:t>
            </a:r>
            <a:endParaRPr lang="en-US" sz="1800" dirty="0"/>
          </a:p>
          <a:p>
            <a:pPr indent="0" marL="0">
              <a:spcAft>
                <a:spcPts val="300"/>
              </a:spcAft>
              <a:buNone/>
            </a:pPr>
            <a:r>
              <a:rPr lang="en-US" sz="1400" dirty="0">
                <a:solidFill>
                  <a:srgbClr val="334155"/>
                </a:solidFill>
              </a:rPr>
              <a:t>Recharts dashboard</a:t>
            </a:r>
            <a:endParaRPr lang="en-US" sz="1800" dirty="0"/>
          </a:p>
        </p:txBody>
      </p:sp>
      <p:sp>
        <p:nvSpPr>
          <p:cNvPr id="5" name="arch-api"/>
          <p:cNvSpPr/>
          <p:nvPr/>
        </p:nvSpPr>
        <p:spPr>
          <a:xfrm>
            <a:off x="4572000" y="1417320"/>
            <a:ext cx="3383280" cy="1920240"/>
          </a:xfrm>
          <a:prstGeom prst="roundRect">
            <a:avLst>
              <a:gd name="adj" fmla="val 4762"/>
            </a:avLst>
          </a:prstGeom>
          <a:solidFill>
            <a:schemeClr val="tx1"/>
          </a:solidFill>
          <a:ln w="12700">
            <a:solidFill>
              <a:schemeClr val="tx1"/>
            </a:solidFill>
            <a:prstDash val="solid"/>
          </a:ln>
        </p:spPr>
      </p:sp>
      <p:sp>
        <p:nvSpPr>
          <p:cNvPr id="6" name="Text 4"/>
          <p:cNvSpPr txBox="1"/>
          <p:nvPr/>
        </p:nvSpPr>
        <p:spPr>
          <a:xfrm>
            <a:off x="4800600" y="1554480"/>
            <a:ext cx="2926080" cy="1645920"/>
          </a:xfrm>
          <a:prstGeom prst="rect">
            <a:avLst/>
          </a:prstGeom>
          <a:noFill/>
          <a:ln/>
        </p:spPr>
        <p:txBody>
          <a:bodyPr wrap="square" lIns="0" tIns="0" rIns="0" bIns="0" rtlCol="0" anchor="t"/>
          <a:lstStyle/>
          <a:p>
            <a:pPr indent="0" marL="0">
              <a:spcAft>
                <a:spcPts val="300"/>
              </a:spcAft>
              <a:buNone/>
            </a:pPr>
            <a:r>
              <a:rPr lang="en-US" sz="1800" b="1" dirty="0">
                <a:solidFill>
                  <a:srgbClr val="FFFFFF"/>
                </a:solidFill>
              </a:rPr>
              <a:t>Node.js API (Express 5)</a:t>
            </a:r>
            <a:endParaRPr lang="en-US" sz="1800" dirty="0"/>
          </a:p>
          <a:p>
            <a:pPr indent="0" marL="0">
              <a:spcAft>
                <a:spcPts val="300"/>
              </a:spcAft>
              <a:buNone/>
            </a:pPr>
            <a:r>
              <a:rPr lang="en-US" sz="1400" dirty="0">
                <a:solidFill>
                  <a:srgbClr val="CBD5E1"/>
                </a:solidFill>
              </a:rPr>
              <a:t>requestId → logger → login check</a:t>
            </a:r>
            <a:endParaRPr lang="en-US" sz="1800" dirty="0"/>
          </a:p>
          <a:p>
            <a:pPr indent="0" marL="0">
              <a:spcAft>
                <a:spcPts val="300"/>
              </a:spcAft>
              <a:buNone/>
            </a:pPr>
            <a:r>
              <a:rPr lang="en-US" sz="1400" dirty="0">
                <a:solidFill>
                  <a:srgbClr val="CBD5E1"/>
                </a:solidFill>
              </a:rPr>
              <a:t>routes: URLs + zod validation</a:t>
            </a:r>
            <a:endParaRPr lang="en-US" sz="1800" dirty="0"/>
          </a:p>
          <a:p>
            <a:pPr indent="0" marL="0">
              <a:spcAft>
                <a:spcPts val="300"/>
              </a:spcAft>
              <a:buNone/>
            </a:pPr>
            <a:r>
              <a:rPr lang="en-US" sz="1400" dirty="0">
                <a:solidFill>
                  <a:srgbClr val="CBD5E1"/>
                </a:solidFill>
              </a:rPr>
              <a:t>services: business rules</a:t>
            </a:r>
            <a:endParaRPr lang="en-US" sz="1800" dirty="0"/>
          </a:p>
        </p:txBody>
      </p:sp>
      <p:sp>
        <p:nvSpPr>
          <p:cNvPr id="7" name="arch-db"/>
          <p:cNvSpPr/>
          <p:nvPr/>
        </p:nvSpPr>
        <p:spPr>
          <a:xfrm>
            <a:off x="9052560" y="1417320"/>
            <a:ext cx="2560320" cy="1920240"/>
          </a:xfrm>
          <a:prstGeom prst="roundRect">
            <a:avLst>
              <a:gd name="adj" fmla="val 4762"/>
            </a:avLst>
          </a:prstGeom>
          <a:solidFill>
            <a:schemeClr val="bg2"/>
          </a:solidFill>
          <a:ln w="12700">
            <a:solidFill>
              <a:srgbClr val="CBD5E1"/>
            </a:solidFill>
            <a:prstDash val="solid"/>
          </a:ln>
        </p:spPr>
      </p:sp>
      <p:sp>
        <p:nvSpPr>
          <p:cNvPr id="8" name="Text 6"/>
          <p:cNvSpPr txBox="1"/>
          <p:nvPr/>
        </p:nvSpPr>
        <p:spPr>
          <a:xfrm>
            <a:off x="9281160" y="1554480"/>
            <a:ext cx="2103120" cy="164592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rPr>
              <a:t>PostgreSQL 16</a:t>
            </a:r>
            <a:endParaRPr lang="en-US" sz="1800" dirty="0"/>
          </a:p>
          <a:p>
            <a:pPr indent="0" marL="0">
              <a:spcAft>
                <a:spcPts val="300"/>
              </a:spcAft>
              <a:buNone/>
            </a:pPr>
            <a:r>
              <a:rPr lang="en-US" sz="1400" dirty="0">
                <a:solidFill>
                  <a:srgbClr val="334155"/>
                </a:solidFill>
              </a:rPr>
              <a:t>17 tables, Docker</a:t>
            </a:r>
            <a:endParaRPr lang="en-US" sz="1800" dirty="0"/>
          </a:p>
          <a:p>
            <a:pPr indent="0" marL="0">
              <a:spcAft>
                <a:spcPts val="300"/>
              </a:spcAft>
              <a:buNone/>
            </a:pPr>
            <a:r>
              <a:rPr lang="en-US" sz="1400" dirty="0">
                <a:solidFill>
                  <a:srgbClr val="334155"/>
                </a:solidFill>
              </a:rPr>
              <a:t>CHECK, UNIQUE, triggers</a:t>
            </a:r>
            <a:endParaRPr lang="en-US" sz="1800" dirty="0"/>
          </a:p>
          <a:p>
            <a:pPr indent="0" marL="0">
              <a:spcAft>
                <a:spcPts val="300"/>
              </a:spcAft>
              <a:buNone/>
            </a:pPr>
            <a:r>
              <a:rPr lang="en-US" sz="1400" dirty="0">
                <a:solidFill>
                  <a:srgbClr val="334155"/>
                </a:solidFill>
              </a:rPr>
              <a:t>SQL migrations + seed</a:t>
            </a:r>
            <a:endParaRPr lang="en-US" sz="1800" dirty="0"/>
          </a:p>
        </p:txBody>
      </p:sp>
      <p:sp>
        <p:nvSpPr>
          <p:cNvPr id="9" name="arrow-1"/>
          <p:cNvSpPr/>
          <p:nvPr/>
        </p:nvSpPr>
        <p:spPr>
          <a:xfrm>
            <a:off x="3566160" y="2514600"/>
            <a:ext cx="914400" cy="0"/>
          </a:xfrm>
          <a:prstGeom prst="line">
            <a:avLst/>
          </a:prstGeom>
          <a:noFill/>
          <a:ln w="28575">
            <a:solidFill>
              <a:schemeClr val="accent1"/>
            </a:solidFill>
            <a:prstDash val="solid"/>
            <a:tailEnd type="triangle"/>
          </a:ln>
        </p:spPr>
      </p:sp>
      <p:sp>
        <p:nvSpPr>
          <p:cNvPr id="10" name="arrow-2"/>
          <p:cNvSpPr/>
          <p:nvPr/>
        </p:nvSpPr>
        <p:spPr>
          <a:xfrm>
            <a:off x="8046720" y="2514600"/>
            <a:ext cx="914400" cy="0"/>
          </a:xfrm>
          <a:prstGeom prst="line">
            <a:avLst/>
          </a:prstGeom>
          <a:noFill/>
          <a:ln w="28575">
            <a:solidFill>
              <a:schemeClr val="accent1"/>
            </a:solidFill>
            <a:prstDash val="solid"/>
            <a:tailEnd type="triangle"/>
          </a:ln>
        </p:spPr>
      </p:sp>
      <p:sp>
        <p:nvSpPr>
          <p:cNvPr id="11" name="Text 9"/>
          <p:cNvSpPr txBox="1"/>
          <p:nvPr/>
        </p:nvSpPr>
        <p:spPr>
          <a:xfrm>
            <a:off x="3474720" y="2011680"/>
            <a:ext cx="1097280" cy="411480"/>
          </a:xfrm>
          <a:prstGeom prst="rect">
            <a:avLst/>
          </a:prstGeom>
          <a:noFill/>
          <a:ln/>
        </p:spPr>
        <p:txBody>
          <a:bodyPr wrap="square" lIns="0" tIns="0" rIns="0" bIns="0" rtlCol="0" anchor="ctr"/>
          <a:lstStyle/>
          <a:p>
            <a:pPr algn="ctr" indent="0" marL="0">
              <a:buNone/>
            </a:pPr>
            <a:r>
              <a:rPr lang="en-US" sz="1000" dirty="0">
                <a:solidFill>
                  <a:schemeClr val="tx2"/>
                </a:solidFill>
              </a:rPr>
              <a:t>/api + cookie</a:t>
            </a:r>
            <a:endParaRPr lang="en-US" sz="1000" dirty="0"/>
          </a:p>
        </p:txBody>
      </p:sp>
      <p:sp>
        <p:nvSpPr>
          <p:cNvPr id="12" name="Text 10"/>
          <p:cNvSpPr txBox="1"/>
          <p:nvPr/>
        </p:nvSpPr>
        <p:spPr>
          <a:xfrm>
            <a:off x="7955280" y="2011680"/>
            <a:ext cx="1097280" cy="411480"/>
          </a:xfrm>
          <a:prstGeom prst="rect">
            <a:avLst/>
          </a:prstGeom>
          <a:noFill/>
          <a:ln/>
        </p:spPr>
        <p:txBody>
          <a:bodyPr wrap="square" lIns="0" tIns="0" rIns="0" bIns="0" rtlCol="0" anchor="ctr"/>
          <a:lstStyle/>
          <a:p>
            <a:pPr algn="ctr" indent="0" marL="0">
              <a:buNone/>
            </a:pPr>
            <a:r>
              <a:rPr lang="en-US" sz="1000" dirty="0">
                <a:solidFill>
                  <a:schemeClr val="tx2"/>
                </a:solidFill>
              </a:rPr>
              <a:t>parameterized SQL</a:t>
            </a:r>
            <a:endParaRPr lang="en-US" sz="1000" dirty="0"/>
          </a:p>
        </p:txBody>
      </p:sp>
      <p:sp>
        <p:nvSpPr>
          <p:cNvPr id="13" name="badge-LuLock"/>
          <p:cNvSpPr/>
          <p:nvPr/>
        </p:nvSpPr>
        <p:spPr>
          <a:xfrm>
            <a:off x="548640" y="4023360"/>
            <a:ext cx="502920" cy="502920"/>
          </a:xfrm>
          <a:prstGeom prst="ellipse">
            <a:avLst/>
          </a:prstGeom>
          <a:solidFill>
            <a:schemeClr val="accent1"/>
          </a:solidFill>
          <a:ln w="12700">
            <a:solidFill>
              <a:schemeClr val="accent1"/>
            </a:solidFill>
            <a:prstDash val="solid"/>
          </a:ln>
        </p:spPr>
      </p:sp>
      <p:pic>
        <p:nvPicPr>
          <p:cNvPr id="14" name="Image 0" descr="preencoded.png">    </p:cNvPr>
          <p:cNvPicPr>
            <a:picLocks noChangeAspect="1"/>
          </p:cNvPicPr>
          <p:nvPr/>
        </p:nvPicPr>
        <p:blipFill>
          <a:blip r:embed="rId1"/>
          <a:stretch>
            <a:fillRect/>
          </a:stretch>
        </p:blipFill>
        <p:spPr>
          <a:xfrm>
            <a:off x="659282" y="4134002"/>
            <a:ext cx="281635" cy="281635"/>
          </a:xfrm>
          <a:prstGeom prst="rect">
            <a:avLst/>
          </a:prstGeom>
        </p:spPr>
      </p:pic>
      <p:sp>
        <p:nvSpPr>
          <p:cNvPr id="15" name="Text 12"/>
          <p:cNvSpPr txBox="1"/>
          <p:nvPr/>
        </p:nvSpPr>
        <p:spPr>
          <a:xfrm>
            <a:off x="1234440" y="4069080"/>
            <a:ext cx="2834640" cy="411480"/>
          </a:xfrm>
          <a:prstGeom prst="rect">
            <a:avLst/>
          </a:prstGeom>
          <a:noFill/>
          <a:ln/>
        </p:spPr>
        <p:txBody>
          <a:bodyPr wrap="square" lIns="0" tIns="0" rIns="0" bIns="0" rtlCol="0" anchor="ctr"/>
          <a:lstStyle/>
          <a:p>
            <a:pPr indent="0" marL="0">
              <a:buNone/>
            </a:pPr>
            <a:r>
              <a:rPr lang="en-US" sz="1800" b="1" dirty="0">
                <a:solidFill>
                  <a:schemeClr val="tx1"/>
                </a:solidFill>
              </a:rPr>
              <a:t>Rules enforced twice</a:t>
            </a:r>
            <a:endParaRPr lang="en-US" sz="1800" dirty="0"/>
          </a:p>
        </p:txBody>
      </p:sp>
      <p:sp>
        <p:nvSpPr>
          <p:cNvPr id="16" name="Text 13"/>
          <p:cNvSpPr txBox="1"/>
          <p:nvPr/>
        </p:nvSpPr>
        <p:spPr>
          <a:xfrm>
            <a:off x="1234440" y="4572000"/>
            <a:ext cx="2880360" cy="1737360"/>
          </a:xfrm>
          <a:prstGeom prst="rect">
            <a:avLst/>
          </a:prstGeom>
          <a:noFill/>
          <a:ln/>
        </p:spPr>
        <p:txBody>
          <a:bodyPr wrap="square" lIns="0" tIns="0" rIns="0" bIns="0" rtlCol="0" anchor="t"/>
          <a:lstStyle/>
          <a:p>
            <a:pPr indent="0" marL="0">
              <a:buNone/>
            </a:pPr>
            <a:r>
              <a:rPr lang="en-US" sz="1400" dirty="0">
                <a:solidFill>
                  <a:schemeClr val="tx2"/>
                </a:solidFill>
              </a:rPr>
              <a:t>Role and project checks in every service; the database also blocks self-approval and edits to posted costs.</a:t>
            </a:r>
            <a:endParaRPr lang="en-US" sz="1400" dirty="0"/>
          </a:p>
        </p:txBody>
      </p:sp>
      <p:sp>
        <p:nvSpPr>
          <p:cNvPr id="17" name="badge-LuLayers"/>
          <p:cNvSpPr/>
          <p:nvPr/>
        </p:nvSpPr>
        <p:spPr>
          <a:xfrm>
            <a:off x="4297680" y="4023360"/>
            <a:ext cx="502920" cy="502920"/>
          </a:xfrm>
          <a:prstGeom prst="ellipse">
            <a:avLst/>
          </a:prstGeom>
          <a:solidFill>
            <a:schemeClr val="accent1"/>
          </a:solidFill>
          <a:ln w="12700">
            <a:solidFill>
              <a:schemeClr val="accent1"/>
            </a:solidFill>
            <a:prstDash val="solid"/>
          </a:ln>
        </p:spPr>
      </p:sp>
      <p:pic>
        <p:nvPicPr>
          <p:cNvPr id="18" name="Image 1" descr="preencoded.png">    </p:cNvPr>
          <p:cNvPicPr>
            <a:picLocks noChangeAspect="1"/>
          </p:cNvPicPr>
          <p:nvPr/>
        </p:nvPicPr>
        <p:blipFill>
          <a:blip r:embed="rId2"/>
          <a:stretch>
            <a:fillRect/>
          </a:stretch>
        </p:blipFill>
        <p:spPr>
          <a:xfrm>
            <a:off x="4408322" y="4134002"/>
            <a:ext cx="281635" cy="281635"/>
          </a:xfrm>
          <a:prstGeom prst="rect">
            <a:avLst/>
          </a:prstGeom>
        </p:spPr>
      </p:pic>
      <p:sp>
        <p:nvSpPr>
          <p:cNvPr id="19" name="Text 15"/>
          <p:cNvSpPr txBox="1"/>
          <p:nvPr/>
        </p:nvSpPr>
        <p:spPr>
          <a:xfrm>
            <a:off x="4983480" y="4069080"/>
            <a:ext cx="2834640" cy="411480"/>
          </a:xfrm>
          <a:prstGeom prst="rect">
            <a:avLst/>
          </a:prstGeom>
          <a:noFill/>
          <a:ln/>
        </p:spPr>
        <p:txBody>
          <a:bodyPr wrap="square" lIns="0" tIns="0" rIns="0" bIns="0" rtlCol="0" anchor="ctr"/>
          <a:lstStyle/>
          <a:p>
            <a:pPr indent="0" marL="0">
              <a:buNone/>
            </a:pPr>
            <a:r>
              <a:rPr lang="en-US" sz="1800" b="1" dirty="0">
                <a:solidFill>
                  <a:schemeClr val="tx1"/>
                </a:solidFill>
              </a:rPr>
              <a:t>All-or-nothing writes</a:t>
            </a:r>
            <a:endParaRPr lang="en-US" sz="1800" dirty="0"/>
          </a:p>
        </p:txBody>
      </p:sp>
      <p:sp>
        <p:nvSpPr>
          <p:cNvPr id="20" name="Text 16"/>
          <p:cNvSpPr txBox="1"/>
          <p:nvPr/>
        </p:nvSpPr>
        <p:spPr>
          <a:xfrm>
            <a:off x="4983480" y="4572000"/>
            <a:ext cx="2880360" cy="1737360"/>
          </a:xfrm>
          <a:prstGeom prst="rect">
            <a:avLst/>
          </a:prstGeom>
          <a:noFill/>
          <a:ln/>
        </p:spPr>
        <p:txBody>
          <a:bodyPr wrap="square" lIns="0" tIns="0" rIns="0" bIns="0" rtlCol="0" anchor="t"/>
          <a:lstStyle/>
          <a:p>
            <a:pPr indent="0" marL="0">
              <a:buNone/>
            </a:pPr>
            <a:r>
              <a:rPr lang="en-US" sz="1400" dirty="0">
                <a:solidFill>
                  <a:schemeClr val="tx2"/>
                </a:solidFill>
              </a:rPr>
              <a:t>A decision, its history row and its audit event commit in one transaction - never half saved.</a:t>
            </a:r>
            <a:endParaRPr lang="en-US" sz="1400" dirty="0"/>
          </a:p>
        </p:txBody>
      </p:sp>
      <p:sp>
        <p:nvSpPr>
          <p:cNvPr id="21" name="badge-LuRefreshCw"/>
          <p:cNvSpPr/>
          <p:nvPr/>
        </p:nvSpPr>
        <p:spPr>
          <a:xfrm>
            <a:off x="8046720" y="4023360"/>
            <a:ext cx="502920" cy="502920"/>
          </a:xfrm>
          <a:prstGeom prst="ellipse">
            <a:avLst/>
          </a:prstGeom>
          <a:solidFill>
            <a:schemeClr val="accent1"/>
          </a:solidFill>
          <a:ln w="12700">
            <a:solidFill>
              <a:schemeClr val="accent1"/>
            </a:solidFill>
            <a:prstDash val="solid"/>
          </a:ln>
        </p:spPr>
      </p:sp>
      <p:pic>
        <p:nvPicPr>
          <p:cNvPr id="22" name="Image 2" descr="preencoded.png">    </p:cNvPr>
          <p:cNvPicPr>
            <a:picLocks noChangeAspect="1"/>
          </p:cNvPicPr>
          <p:nvPr/>
        </p:nvPicPr>
        <p:blipFill>
          <a:blip r:embed="rId3"/>
          <a:stretch>
            <a:fillRect/>
          </a:stretch>
        </p:blipFill>
        <p:spPr>
          <a:xfrm>
            <a:off x="8157362" y="4134002"/>
            <a:ext cx="281635" cy="281635"/>
          </a:xfrm>
          <a:prstGeom prst="rect">
            <a:avLst/>
          </a:prstGeom>
        </p:spPr>
      </p:pic>
      <p:sp>
        <p:nvSpPr>
          <p:cNvPr id="23" name="Text 18"/>
          <p:cNvSpPr txBox="1"/>
          <p:nvPr/>
        </p:nvSpPr>
        <p:spPr>
          <a:xfrm>
            <a:off x="8732520" y="4069080"/>
            <a:ext cx="2834640" cy="411480"/>
          </a:xfrm>
          <a:prstGeom prst="rect">
            <a:avLst/>
          </a:prstGeom>
          <a:noFill/>
          <a:ln/>
        </p:spPr>
        <p:txBody>
          <a:bodyPr wrap="square" lIns="0" tIns="0" rIns="0" bIns="0" rtlCol="0" anchor="ctr"/>
          <a:lstStyle/>
          <a:p>
            <a:pPr indent="0" marL="0">
              <a:buNone/>
            </a:pPr>
            <a:r>
              <a:rPr lang="en-US" sz="1800" b="1" dirty="0">
                <a:solidFill>
                  <a:schemeClr val="tx1"/>
                </a:solidFill>
              </a:rPr>
              <a:t>Safe under concurrency</a:t>
            </a:r>
            <a:endParaRPr lang="en-US" sz="1800" dirty="0"/>
          </a:p>
        </p:txBody>
      </p:sp>
      <p:sp>
        <p:nvSpPr>
          <p:cNvPr id="24" name="Text 19"/>
          <p:cNvSpPr txBox="1"/>
          <p:nvPr/>
        </p:nvSpPr>
        <p:spPr>
          <a:xfrm>
            <a:off x="8732520" y="4572000"/>
            <a:ext cx="2880360" cy="1737360"/>
          </a:xfrm>
          <a:prstGeom prst="rect">
            <a:avLst/>
          </a:prstGeom>
          <a:noFill/>
          <a:ln/>
        </p:spPr>
        <p:txBody>
          <a:bodyPr wrap="square" lIns="0" tIns="0" rIns="0" bIns="0" rtlCol="0" anchor="t"/>
          <a:lstStyle/>
          <a:p>
            <a:pPr indent="0" marL="0">
              <a:buNone/>
            </a:pPr>
            <a:r>
              <a:rPr lang="en-US" sz="1400" dirty="0">
                <a:solidFill>
                  <a:schemeClr val="tx2"/>
                </a:solidFill>
              </a:rPr>
              <a:t>Version check returns 409 on stale edits; idempotency key stops a double-posted cost.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600" b="1" dirty="0">
                <a:solidFill>
                  <a:schemeClr val="tx1"/>
                </a:solidFill>
              </a:rPr>
              <a:t>Finance KPIs follow one documented formula set</a:t>
            </a:r>
            <a:endParaRPr lang="en-US" sz="3600" dirty="0"/>
          </a:p>
        </p:txBody>
      </p:sp>
      <p:sp>
        <p:nvSpPr>
          <p:cNvPr id="3" name="formula-0"/>
          <p:cNvSpPr/>
          <p:nvPr/>
        </p:nvSpPr>
        <p:spPr>
          <a:xfrm>
            <a:off x="548640" y="1417320"/>
            <a:ext cx="5029200" cy="530352"/>
          </a:xfrm>
          <a:prstGeom prst="roundRect">
            <a:avLst>
              <a:gd name="adj" fmla="val 13793"/>
            </a:avLst>
          </a:prstGeom>
          <a:solidFill>
            <a:schemeClr val="bg2"/>
          </a:solidFill>
          <a:ln w="12700">
            <a:solidFill>
              <a:schemeClr val="bg2"/>
            </a:solidFill>
            <a:prstDash val="solid"/>
          </a:ln>
        </p:spPr>
      </p:sp>
      <p:sp>
        <p:nvSpPr>
          <p:cNvPr id="4" name="Text 2"/>
          <p:cNvSpPr txBox="1"/>
          <p:nvPr/>
        </p:nvSpPr>
        <p:spPr>
          <a:xfrm>
            <a:off x="731520" y="1417320"/>
            <a:ext cx="4754880" cy="530352"/>
          </a:xfrm>
          <a:prstGeom prst="rect">
            <a:avLst/>
          </a:prstGeom>
          <a:noFill/>
          <a:ln/>
        </p:spPr>
        <p:txBody>
          <a:bodyPr wrap="square" lIns="0" tIns="0" rIns="0" bIns="0" rtlCol="0" anchor="ctr"/>
          <a:lstStyle/>
          <a:p>
            <a:pPr indent="0" marL="0">
              <a:buNone/>
            </a:pPr>
            <a:r>
              <a:rPr lang="en-US" sz="1400" b="1" dirty="0">
                <a:solidFill>
                  <a:srgbClr val="0F172A"/>
                </a:solidFill>
              </a:rPr>
              <a:t>Current budget  </a:t>
            </a:r>
            <a:pPr indent="0" marL="0">
              <a:buNone/>
            </a:pPr>
            <a:r>
              <a:rPr lang="en-US" sz="1400" dirty="0">
                <a:solidFill>
                  <a:srgbClr val="334155"/>
                </a:solidFill>
              </a:rPr>
              <a:t>Initial budget + APPROVED revisions only</a:t>
            </a:r>
            <a:endParaRPr lang="en-US" sz="1400" dirty="0"/>
          </a:p>
        </p:txBody>
      </p:sp>
      <p:sp>
        <p:nvSpPr>
          <p:cNvPr id="5" name="formula-1"/>
          <p:cNvSpPr/>
          <p:nvPr/>
        </p:nvSpPr>
        <p:spPr>
          <a:xfrm>
            <a:off x="548640" y="2039112"/>
            <a:ext cx="5029200" cy="530352"/>
          </a:xfrm>
          <a:prstGeom prst="roundRect">
            <a:avLst>
              <a:gd name="adj" fmla="val 13793"/>
            </a:avLst>
          </a:prstGeom>
          <a:solidFill>
            <a:schemeClr val="bg2"/>
          </a:solidFill>
          <a:ln w="12700">
            <a:solidFill>
              <a:schemeClr val="bg2"/>
            </a:solidFill>
            <a:prstDash val="solid"/>
          </a:ln>
        </p:spPr>
      </p:sp>
      <p:sp>
        <p:nvSpPr>
          <p:cNvPr id="6" name="Text 4"/>
          <p:cNvSpPr txBox="1"/>
          <p:nvPr/>
        </p:nvSpPr>
        <p:spPr>
          <a:xfrm>
            <a:off x="731520" y="2039112"/>
            <a:ext cx="4754880" cy="530352"/>
          </a:xfrm>
          <a:prstGeom prst="rect">
            <a:avLst/>
          </a:prstGeom>
          <a:noFill/>
          <a:ln/>
        </p:spPr>
        <p:txBody>
          <a:bodyPr wrap="square" lIns="0" tIns="0" rIns="0" bIns="0" rtlCol="0" anchor="ctr"/>
          <a:lstStyle/>
          <a:p>
            <a:pPr indent="0" marL="0">
              <a:buNone/>
            </a:pPr>
            <a:r>
              <a:rPr lang="en-US" sz="1400" b="1" dirty="0">
                <a:solidFill>
                  <a:srgbClr val="0F172A"/>
                </a:solidFill>
              </a:rPr>
              <a:t>Actual spend  </a:t>
            </a:r>
            <a:pPr indent="0" marL="0">
              <a:buNone/>
            </a:pPr>
            <a:r>
              <a:rPr lang="en-US" sz="1400" dirty="0">
                <a:solidFill>
                  <a:srgbClr val="334155"/>
                </a:solidFill>
              </a:rPr>
              <a:t>POSTED costs dated on or before 30 Sep 2026</a:t>
            </a:r>
            <a:endParaRPr lang="en-US" sz="1400" dirty="0"/>
          </a:p>
        </p:txBody>
      </p:sp>
      <p:sp>
        <p:nvSpPr>
          <p:cNvPr id="7" name="formula-2"/>
          <p:cNvSpPr/>
          <p:nvPr/>
        </p:nvSpPr>
        <p:spPr>
          <a:xfrm>
            <a:off x="548640" y="2660904"/>
            <a:ext cx="5029200" cy="530352"/>
          </a:xfrm>
          <a:prstGeom prst="roundRect">
            <a:avLst>
              <a:gd name="adj" fmla="val 13793"/>
            </a:avLst>
          </a:prstGeom>
          <a:solidFill>
            <a:schemeClr val="bg2"/>
          </a:solidFill>
          <a:ln w="12700">
            <a:solidFill>
              <a:schemeClr val="bg2"/>
            </a:solidFill>
            <a:prstDash val="solid"/>
          </a:ln>
        </p:spPr>
      </p:sp>
      <p:sp>
        <p:nvSpPr>
          <p:cNvPr id="8" name="Text 6"/>
          <p:cNvSpPr txBox="1"/>
          <p:nvPr/>
        </p:nvSpPr>
        <p:spPr>
          <a:xfrm>
            <a:off x="731520" y="2660904"/>
            <a:ext cx="4754880" cy="530352"/>
          </a:xfrm>
          <a:prstGeom prst="rect">
            <a:avLst/>
          </a:prstGeom>
          <a:noFill/>
          <a:ln/>
        </p:spPr>
        <p:txBody>
          <a:bodyPr wrap="square" lIns="0" tIns="0" rIns="0" bIns="0" rtlCol="0" anchor="ctr"/>
          <a:lstStyle/>
          <a:p>
            <a:pPr indent="0" marL="0">
              <a:buNone/>
            </a:pPr>
            <a:r>
              <a:rPr lang="en-US" sz="1400" b="1" dirty="0">
                <a:solidFill>
                  <a:srgbClr val="0F172A"/>
                </a:solidFill>
              </a:rPr>
              <a:t>Remaining  </a:t>
            </a:r>
            <a:pPr indent="0" marL="0">
              <a:buNone/>
            </a:pPr>
            <a:r>
              <a:rPr lang="en-US" sz="1400" dirty="0">
                <a:solidFill>
                  <a:srgbClr val="334155"/>
                </a:solidFill>
              </a:rPr>
              <a:t>Current budget − actual spend</a:t>
            </a:r>
            <a:endParaRPr lang="en-US" sz="1400" dirty="0"/>
          </a:p>
        </p:txBody>
      </p:sp>
      <p:sp>
        <p:nvSpPr>
          <p:cNvPr id="9" name="formula-3"/>
          <p:cNvSpPr/>
          <p:nvPr/>
        </p:nvSpPr>
        <p:spPr>
          <a:xfrm>
            <a:off x="548640" y="3282696"/>
            <a:ext cx="5029200" cy="530352"/>
          </a:xfrm>
          <a:prstGeom prst="roundRect">
            <a:avLst>
              <a:gd name="adj" fmla="val 13793"/>
            </a:avLst>
          </a:prstGeom>
          <a:solidFill>
            <a:schemeClr val="bg2"/>
          </a:solidFill>
          <a:ln w="12700">
            <a:solidFill>
              <a:schemeClr val="bg2"/>
            </a:solidFill>
            <a:prstDash val="solid"/>
          </a:ln>
        </p:spPr>
      </p:sp>
      <p:sp>
        <p:nvSpPr>
          <p:cNvPr id="10" name="Text 8"/>
          <p:cNvSpPr txBox="1"/>
          <p:nvPr/>
        </p:nvSpPr>
        <p:spPr>
          <a:xfrm>
            <a:off x="731520" y="3282696"/>
            <a:ext cx="4754880" cy="530352"/>
          </a:xfrm>
          <a:prstGeom prst="rect">
            <a:avLst/>
          </a:prstGeom>
          <a:noFill/>
          <a:ln/>
        </p:spPr>
        <p:txBody>
          <a:bodyPr wrap="square" lIns="0" tIns="0" rIns="0" bIns="0" rtlCol="0" anchor="ctr"/>
          <a:lstStyle/>
          <a:p>
            <a:pPr indent="0" marL="0">
              <a:buNone/>
            </a:pPr>
            <a:r>
              <a:rPr lang="en-US" sz="1400" b="1" dirty="0">
                <a:solidFill>
                  <a:srgbClr val="0F172A"/>
                </a:solidFill>
              </a:rPr>
              <a:t>Utilization  </a:t>
            </a:r>
            <a:pPr indent="0" marL="0">
              <a:buNone/>
            </a:pPr>
            <a:r>
              <a:rPr lang="en-US" sz="1400" dirty="0">
                <a:solidFill>
                  <a:srgbClr val="334155"/>
                </a:solidFill>
              </a:rPr>
              <a:t>Actual ÷ current budget (n/a if budget is 0)</a:t>
            </a:r>
            <a:endParaRPr lang="en-US" sz="1400" dirty="0"/>
          </a:p>
        </p:txBody>
      </p:sp>
      <p:sp>
        <p:nvSpPr>
          <p:cNvPr id="11" name="formula-4"/>
          <p:cNvSpPr/>
          <p:nvPr/>
        </p:nvSpPr>
        <p:spPr>
          <a:xfrm>
            <a:off x="548640" y="3904488"/>
            <a:ext cx="5029200" cy="530352"/>
          </a:xfrm>
          <a:prstGeom prst="roundRect">
            <a:avLst>
              <a:gd name="adj" fmla="val 13793"/>
            </a:avLst>
          </a:prstGeom>
          <a:solidFill>
            <a:schemeClr val="bg2"/>
          </a:solidFill>
          <a:ln w="12700">
            <a:solidFill>
              <a:schemeClr val="bg2"/>
            </a:solidFill>
            <a:prstDash val="solid"/>
          </a:ln>
        </p:spPr>
      </p:sp>
      <p:sp>
        <p:nvSpPr>
          <p:cNvPr id="12" name="Text 10"/>
          <p:cNvSpPr txBox="1"/>
          <p:nvPr/>
        </p:nvSpPr>
        <p:spPr>
          <a:xfrm>
            <a:off x="731520" y="3904488"/>
            <a:ext cx="4754880" cy="530352"/>
          </a:xfrm>
          <a:prstGeom prst="rect">
            <a:avLst/>
          </a:prstGeom>
          <a:noFill/>
          <a:ln/>
        </p:spPr>
        <p:txBody>
          <a:bodyPr wrap="square" lIns="0" tIns="0" rIns="0" bIns="0" rtlCol="0" anchor="ctr"/>
          <a:lstStyle/>
          <a:p>
            <a:pPr indent="0" marL="0">
              <a:buNone/>
            </a:pPr>
            <a:r>
              <a:rPr lang="en-US" sz="1400" b="1" dirty="0">
                <a:solidFill>
                  <a:srgbClr val="0F172A"/>
                </a:solidFill>
              </a:rPr>
              <a:t>EAC  </a:t>
            </a:r>
            <a:pPr indent="0" marL="0">
              <a:buNone/>
            </a:pPr>
            <a:r>
              <a:rPr lang="en-US" sz="1400" dirty="0">
                <a:solidFill>
                  <a:srgbClr val="334155"/>
                </a:solidFill>
              </a:rPr>
              <a:t>Actual + forecast for future months</a:t>
            </a:r>
            <a:endParaRPr lang="en-US" sz="1400" dirty="0"/>
          </a:p>
        </p:txBody>
      </p:sp>
      <p:sp>
        <p:nvSpPr>
          <p:cNvPr id="13" name="formula-5"/>
          <p:cNvSpPr/>
          <p:nvPr/>
        </p:nvSpPr>
        <p:spPr>
          <a:xfrm>
            <a:off x="548640" y="4526280"/>
            <a:ext cx="5029200" cy="530352"/>
          </a:xfrm>
          <a:prstGeom prst="roundRect">
            <a:avLst>
              <a:gd name="adj" fmla="val 13793"/>
            </a:avLst>
          </a:prstGeom>
          <a:solidFill>
            <a:schemeClr val="bg2"/>
          </a:solidFill>
          <a:ln w="12700">
            <a:solidFill>
              <a:schemeClr val="bg2"/>
            </a:solidFill>
            <a:prstDash val="solid"/>
          </a:ln>
        </p:spPr>
      </p:sp>
      <p:sp>
        <p:nvSpPr>
          <p:cNvPr id="14" name="Text 12"/>
          <p:cNvSpPr txBox="1"/>
          <p:nvPr/>
        </p:nvSpPr>
        <p:spPr>
          <a:xfrm>
            <a:off x="731520" y="4526280"/>
            <a:ext cx="4754880" cy="530352"/>
          </a:xfrm>
          <a:prstGeom prst="rect">
            <a:avLst/>
          </a:prstGeom>
          <a:noFill/>
          <a:ln/>
        </p:spPr>
        <p:txBody>
          <a:bodyPr wrap="square" lIns="0" tIns="0" rIns="0" bIns="0" rtlCol="0" anchor="ctr"/>
          <a:lstStyle/>
          <a:p>
            <a:pPr indent="0" marL="0">
              <a:buNone/>
            </a:pPr>
            <a:r>
              <a:rPr lang="en-US" sz="1400" b="1" dirty="0">
                <a:solidFill>
                  <a:srgbClr val="0F172A"/>
                </a:solidFill>
              </a:rPr>
              <a:t>Variance  </a:t>
            </a:r>
            <a:pPr indent="0" marL="0">
              <a:buNone/>
            </a:pPr>
            <a:r>
              <a:rPr lang="en-US" sz="1400" dirty="0">
                <a:solidFill>
                  <a:srgbClr val="334155"/>
                </a:solidFill>
              </a:rPr>
              <a:t>Current budget − EAC (negative = overrun)</a:t>
            </a:r>
            <a:endParaRPr lang="en-US" sz="1400" dirty="0"/>
          </a:p>
        </p:txBody>
      </p:sp>
      <p:sp>
        <p:nvSpPr>
          <p:cNvPr id="15" name="overrun-callout"/>
          <p:cNvSpPr/>
          <p:nvPr/>
        </p:nvSpPr>
        <p:spPr>
          <a:xfrm>
            <a:off x="548640" y="5212080"/>
            <a:ext cx="5029200" cy="960120"/>
          </a:xfrm>
          <a:prstGeom prst="roundRect">
            <a:avLst>
              <a:gd name="adj" fmla="val 7619"/>
            </a:avLst>
          </a:prstGeom>
          <a:solidFill>
            <a:srgbClr val="FDECEC"/>
          </a:solidFill>
          <a:ln w="12700">
            <a:solidFill>
              <a:srgbClr val="FDECEC"/>
            </a:solidFill>
            <a:prstDash val="solid"/>
          </a:ln>
        </p:spPr>
      </p:sp>
      <p:sp>
        <p:nvSpPr>
          <p:cNvPr id="16" name="Text 14"/>
          <p:cNvSpPr txBox="1"/>
          <p:nvPr/>
        </p:nvSpPr>
        <p:spPr>
          <a:xfrm>
            <a:off x="731520" y="5257800"/>
            <a:ext cx="4754880" cy="868680"/>
          </a:xfrm>
          <a:prstGeom prst="rect">
            <a:avLst/>
          </a:prstGeom>
          <a:noFill/>
          <a:ln/>
        </p:spPr>
        <p:txBody>
          <a:bodyPr wrap="square" lIns="0" tIns="0" rIns="0" bIns="0" rtlCol="0" anchor="ctr"/>
          <a:lstStyle/>
          <a:p>
            <a:pPr indent="0" marL="0">
              <a:buNone/>
            </a:pPr>
            <a:r>
              <a:rPr lang="en-US" sz="1400" b="1" dirty="0">
                <a:solidFill>
                  <a:srgbClr val="D03B3B"/>
                </a:solidFill>
              </a:rPr>
              <a:t>PRJ-002 flagged FORECAST OVERRUN</a:t>
            </a:r>
            <a:endParaRPr lang="en-US" sz="1400" dirty="0"/>
          </a:p>
          <a:p>
            <a:pPr indent="0" marL="0">
              <a:buNone/>
            </a:pPr>
            <a:r>
              <a:rPr lang="en-US" sz="1400" dirty="0">
                <a:solidFill>
                  <a:srgbClr val="334155"/>
                </a:solidFill>
              </a:rPr>
              <a:t>EAC AED 3.00M vs approved budget AED 2.65M</a:t>
            </a:r>
            <a:endParaRPr lang="en-US" sz="1400" dirty="0"/>
          </a:p>
        </p:txBody>
      </p:sp>
      <p:graphicFrame>
        <p:nvGraphicFramePr>
          <p:cNvPr id="17" name="finance-chart" descr=""/>
          <p:cNvGraphicFramePr/>
          <p:nvPr/>
        </p:nvGraphicFramePr>
        <p:xfrm>
          <a:off x="5897880" y="1325880"/>
          <a:ext cx="5760720" cy="48920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600" b="1" dirty="0">
                <a:solidFill>
                  <a:schemeClr val="tx1"/>
                </a:solidFill>
              </a:rPr>
              <a:t>The executive dashboard is calculated live from SQL</a:t>
            </a:r>
            <a:endParaRPr lang="en-US" sz="3600" dirty="0"/>
          </a:p>
        </p:txBody>
      </p:sp>
      <p:sp>
        <p:nvSpPr>
          <p:cNvPr id="3" name="dash-frame"/>
          <p:cNvSpPr/>
          <p:nvPr/>
        </p:nvSpPr>
        <p:spPr>
          <a:xfrm>
            <a:off x="548640" y="1371600"/>
            <a:ext cx="6766560" cy="4581525"/>
          </a:xfrm>
          <a:prstGeom prst="rect">
            <a:avLst/>
          </a:prstGeom>
          <a:solidFill>
            <a:srgbClr val="FFFFFF"/>
          </a:solidFill>
          <a:ln w="12700">
            <a:solidFill>
              <a:srgbClr val="CBD5E1"/>
            </a:solidFill>
            <a:prstDash val="solid"/>
          </a:ln>
          <a:effectLst>
            <a:outerShdw sx="100000" sy="100000" kx="0" ky="0" algn="bl" rotWithShape="0" blurRad="101600" dist="25400" dir="5400000">
              <a:srgbClr val="000000">
                <a:alpha val="18000"/>
              </a:srgbClr>
            </a:outerShdw>
          </a:effectLst>
        </p:spPr>
      </p:sp>
      <p:pic>
        <p:nvPicPr>
          <p:cNvPr id="4" name="dash-screenshot" descr="/tmp/claude-0/-home-claude/71164dcf-2911-55e4-9dd5-e1a7ff060bf4/scratchpad/deck/dashboard_crop.png">    </p:cNvPr>
          <p:cNvPicPr>
            <a:picLocks noChangeAspect="1"/>
          </p:cNvPicPr>
          <p:nvPr/>
        </p:nvPicPr>
        <p:blipFill>
          <a:blip r:embed="rId1"/>
          <a:stretch>
            <a:fillRect/>
          </a:stretch>
        </p:blipFill>
        <p:spPr>
          <a:xfrm>
            <a:off x="548640" y="1371600"/>
            <a:ext cx="6766560" cy="4581525"/>
          </a:xfrm>
          <a:prstGeom prst="rect">
            <a:avLst/>
          </a:prstGeom>
        </p:spPr>
      </p:pic>
      <p:sp>
        <p:nvSpPr>
          <p:cNvPr id="5" name="dash-stat-0"/>
          <p:cNvSpPr/>
          <p:nvPr/>
        </p:nvSpPr>
        <p:spPr>
          <a:xfrm>
            <a:off x="7635240" y="1371600"/>
            <a:ext cx="1920240" cy="1188720"/>
          </a:xfrm>
          <a:prstGeom prst="roundRect">
            <a:avLst>
              <a:gd name="adj" fmla="val 7692"/>
            </a:avLst>
          </a:prstGeom>
          <a:solidFill>
            <a:schemeClr val="bg2"/>
          </a:solidFill>
          <a:ln w="12700">
            <a:solidFill>
              <a:schemeClr val="bg2"/>
            </a:solidFill>
            <a:prstDash val="solid"/>
          </a:ln>
        </p:spPr>
      </p:sp>
      <p:sp>
        <p:nvSpPr>
          <p:cNvPr id="6" name="Text 3"/>
          <p:cNvSpPr txBox="1"/>
          <p:nvPr/>
        </p:nvSpPr>
        <p:spPr>
          <a:xfrm>
            <a:off x="7772400" y="1481328"/>
            <a:ext cx="1645920" cy="594360"/>
          </a:xfrm>
          <a:prstGeom prst="rect">
            <a:avLst/>
          </a:prstGeom>
          <a:noFill/>
          <a:ln/>
        </p:spPr>
        <p:txBody>
          <a:bodyPr wrap="square" lIns="0" tIns="0" rIns="0" bIns="0" rtlCol="0" anchor="ctr"/>
          <a:lstStyle/>
          <a:p>
            <a:pPr indent="0" marL="0">
              <a:buNone/>
            </a:pPr>
            <a:r>
              <a:rPr lang="en-US" sz="3200" b="1" dirty="0">
                <a:solidFill>
                  <a:schemeClr val="accent1"/>
                </a:solidFill>
              </a:rPr>
              <a:t>16</a:t>
            </a:r>
            <a:endParaRPr lang="en-US" sz="3200" dirty="0"/>
          </a:p>
        </p:txBody>
      </p:sp>
      <p:sp>
        <p:nvSpPr>
          <p:cNvPr id="7" name="Text 4"/>
          <p:cNvSpPr txBox="1"/>
          <p:nvPr/>
        </p:nvSpPr>
        <p:spPr>
          <a:xfrm>
            <a:off x="7772400" y="2084832"/>
            <a:ext cx="1691640" cy="411480"/>
          </a:xfrm>
          <a:prstGeom prst="rect">
            <a:avLst/>
          </a:prstGeom>
          <a:noFill/>
          <a:ln/>
        </p:spPr>
        <p:txBody>
          <a:bodyPr wrap="square" lIns="0" tIns="0" rIns="0" bIns="0" rtlCol="0" anchor="t"/>
          <a:lstStyle/>
          <a:p>
            <a:pPr indent="0" marL="0">
              <a:buNone/>
            </a:pPr>
            <a:r>
              <a:rPr lang="en-US" sz="1200" dirty="0">
                <a:solidFill>
                  <a:schemeClr val="tx2"/>
                </a:solidFill>
              </a:rPr>
              <a:t>KPI cards</a:t>
            </a:r>
            <a:endParaRPr lang="en-US" sz="1200" dirty="0"/>
          </a:p>
        </p:txBody>
      </p:sp>
      <p:sp>
        <p:nvSpPr>
          <p:cNvPr id="8" name="dash-stat-1"/>
          <p:cNvSpPr/>
          <p:nvPr/>
        </p:nvSpPr>
        <p:spPr>
          <a:xfrm>
            <a:off x="9692640" y="1371600"/>
            <a:ext cx="1920240" cy="1188720"/>
          </a:xfrm>
          <a:prstGeom prst="roundRect">
            <a:avLst>
              <a:gd name="adj" fmla="val 7692"/>
            </a:avLst>
          </a:prstGeom>
          <a:solidFill>
            <a:schemeClr val="bg2"/>
          </a:solidFill>
          <a:ln w="12700">
            <a:solidFill>
              <a:schemeClr val="bg2"/>
            </a:solidFill>
            <a:prstDash val="solid"/>
          </a:ln>
        </p:spPr>
      </p:sp>
      <p:sp>
        <p:nvSpPr>
          <p:cNvPr id="9" name="Text 6"/>
          <p:cNvSpPr txBox="1"/>
          <p:nvPr/>
        </p:nvSpPr>
        <p:spPr>
          <a:xfrm>
            <a:off x="9829800" y="1481328"/>
            <a:ext cx="1645920" cy="594360"/>
          </a:xfrm>
          <a:prstGeom prst="rect">
            <a:avLst/>
          </a:prstGeom>
          <a:noFill/>
          <a:ln/>
        </p:spPr>
        <p:txBody>
          <a:bodyPr wrap="square" lIns="0" tIns="0" rIns="0" bIns="0" rtlCol="0" anchor="ctr"/>
          <a:lstStyle/>
          <a:p>
            <a:pPr indent="0" marL="0">
              <a:buNone/>
            </a:pPr>
            <a:r>
              <a:rPr lang="en-US" sz="3200" b="1" dirty="0">
                <a:solidFill>
                  <a:schemeClr val="accent1"/>
                </a:solidFill>
              </a:rPr>
              <a:t>7</a:t>
            </a:r>
            <a:endParaRPr lang="en-US" sz="3200" dirty="0"/>
          </a:p>
        </p:txBody>
      </p:sp>
      <p:sp>
        <p:nvSpPr>
          <p:cNvPr id="10" name="Text 7"/>
          <p:cNvSpPr txBox="1"/>
          <p:nvPr/>
        </p:nvSpPr>
        <p:spPr>
          <a:xfrm>
            <a:off x="9829800" y="2084832"/>
            <a:ext cx="1691640" cy="411480"/>
          </a:xfrm>
          <a:prstGeom prst="rect">
            <a:avLst/>
          </a:prstGeom>
          <a:noFill/>
          <a:ln/>
        </p:spPr>
        <p:txBody>
          <a:bodyPr wrap="square" lIns="0" tIns="0" rIns="0" bIns="0" rtlCol="0" anchor="t"/>
          <a:lstStyle/>
          <a:p>
            <a:pPr indent="0" marL="0">
              <a:buNone/>
            </a:pPr>
            <a:r>
              <a:rPr lang="en-US" sz="1200" dirty="0">
                <a:solidFill>
                  <a:schemeClr val="tx2"/>
                </a:solidFill>
              </a:rPr>
              <a:t>interactive visuals</a:t>
            </a:r>
            <a:endParaRPr lang="en-US" sz="1200" dirty="0"/>
          </a:p>
        </p:txBody>
      </p:sp>
      <p:sp>
        <p:nvSpPr>
          <p:cNvPr id="11" name="dash-stat-2"/>
          <p:cNvSpPr/>
          <p:nvPr/>
        </p:nvSpPr>
        <p:spPr>
          <a:xfrm>
            <a:off x="7635240" y="2697480"/>
            <a:ext cx="1920240" cy="1188720"/>
          </a:xfrm>
          <a:prstGeom prst="roundRect">
            <a:avLst>
              <a:gd name="adj" fmla="val 7692"/>
            </a:avLst>
          </a:prstGeom>
          <a:solidFill>
            <a:schemeClr val="bg2"/>
          </a:solidFill>
          <a:ln w="12700">
            <a:solidFill>
              <a:schemeClr val="bg2"/>
            </a:solidFill>
            <a:prstDash val="solid"/>
          </a:ln>
        </p:spPr>
      </p:sp>
      <p:sp>
        <p:nvSpPr>
          <p:cNvPr id="12" name="Text 9"/>
          <p:cNvSpPr txBox="1"/>
          <p:nvPr/>
        </p:nvSpPr>
        <p:spPr>
          <a:xfrm>
            <a:off x="7772400" y="2807208"/>
            <a:ext cx="1645920" cy="594360"/>
          </a:xfrm>
          <a:prstGeom prst="rect">
            <a:avLst/>
          </a:prstGeom>
          <a:noFill/>
          <a:ln/>
        </p:spPr>
        <p:txBody>
          <a:bodyPr wrap="square" lIns="0" tIns="0" rIns="0" bIns="0" rtlCol="0" anchor="ctr"/>
          <a:lstStyle/>
          <a:p>
            <a:pPr indent="0" marL="0">
              <a:buNone/>
            </a:pPr>
            <a:r>
              <a:rPr lang="en-US" sz="3200" b="1" dirty="0">
                <a:solidFill>
                  <a:schemeClr val="accent1"/>
                </a:solidFill>
              </a:rPr>
              <a:t>6</a:t>
            </a:r>
            <a:endParaRPr lang="en-US" sz="3200" dirty="0"/>
          </a:p>
        </p:txBody>
      </p:sp>
      <p:sp>
        <p:nvSpPr>
          <p:cNvPr id="13" name="Text 10"/>
          <p:cNvSpPr txBox="1"/>
          <p:nvPr/>
        </p:nvSpPr>
        <p:spPr>
          <a:xfrm>
            <a:off x="7772400" y="3410712"/>
            <a:ext cx="1691640" cy="411480"/>
          </a:xfrm>
          <a:prstGeom prst="rect">
            <a:avLst/>
          </a:prstGeom>
          <a:noFill/>
          <a:ln/>
        </p:spPr>
        <p:txBody>
          <a:bodyPr wrap="square" lIns="0" tIns="0" rIns="0" bIns="0" rtlCol="0" anchor="t"/>
          <a:lstStyle/>
          <a:p>
            <a:pPr indent="0" marL="0">
              <a:buNone/>
            </a:pPr>
            <a:r>
              <a:rPr lang="en-US" sz="1200" dirty="0">
                <a:solidFill>
                  <a:schemeClr val="tx2"/>
                </a:solidFill>
              </a:rPr>
              <a:t>filters in one row</a:t>
            </a:r>
            <a:endParaRPr lang="en-US" sz="1200" dirty="0"/>
          </a:p>
        </p:txBody>
      </p:sp>
      <p:sp>
        <p:nvSpPr>
          <p:cNvPr id="14" name="dash-stat-3"/>
          <p:cNvSpPr/>
          <p:nvPr/>
        </p:nvSpPr>
        <p:spPr>
          <a:xfrm>
            <a:off x="9692640" y="2697480"/>
            <a:ext cx="1920240" cy="1188720"/>
          </a:xfrm>
          <a:prstGeom prst="roundRect">
            <a:avLst>
              <a:gd name="adj" fmla="val 7692"/>
            </a:avLst>
          </a:prstGeom>
          <a:solidFill>
            <a:schemeClr val="bg2"/>
          </a:solidFill>
          <a:ln w="12700">
            <a:solidFill>
              <a:schemeClr val="bg2"/>
            </a:solidFill>
            <a:prstDash val="solid"/>
          </a:ln>
        </p:spPr>
      </p:sp>
      <p:sp>
        <p:nvSpPr>
          <p:cNvPr id="15" name="Text 12"/>
          <p:cNvSpPr txBox="1"/>
          <p:nvPr/>
        </p:nvSpPr>
        <p:spPr>
          <a:xfrm>
            <a:off x="9829800" y="2807208"/>
            <a:ext cx="1645920" cy="594360"/>
          </a:xfrm>
          <a:prstGeom prst="rect">
            <a:avLst/>
          </a:prstGeom>
          <a:noFill/>
          <a:ln/>
        </p:spPr>
        <p:txBody>
          <a:bodyPr wrap="square" lIns="0" tIns="0" rIns="0" bIns="0" rtlCol="0" anchor="ctr"/>
          <a:lstStyle/>
          <a:p>
            <a:pPr indent="0" marL="0">
              <a:buNone/>
            </a:pPr>
            <a:r>
              <a:rPr lang="en-US" sz="3200" b="1" dirty="0">
                <a:solidFill>
                  <a:schemeClr val="accent1"/>
                </a:solidFill>
              </a:rPr>
              <a:t>4 / 4</a:t>
            </a:r>
            <a:endParaRPr lang="en-US" sz="3200" dirty="0"/>
          </a:p>
        </p:txBody>
      </p:sp>
      <p:sp>
        <p:nvSpPr>
          <p:cNvPr id="16" name="Text 13"/>
          <p:cNvSpPr txBox="1"/>
          <p:nvPr/>
        </p:nvSpPr>
        <p:spPr>
          <a:xfrm>
            <a:off x="9829800" y="3410712"/>
            <a:ext cx="1691640" cy="411480"/>
          </a:xfrm>
          <a:prstGeom prst="rect">
            <a:avLst/>
          </a:prstGeom>
          <a:noFill/>
          <a:ln/>
        </p:spPr>
        <p:txBody>
          <a:bodyPr wrap="square" lIns="0" tIns="0" rIns="0" bIns="0" rtlCol="0" anchor="t"/>
          <a:lstStyle/>
          <a:p>
            <a:pPr indent="0" marL="0">
              <a:buNone/>
            </a:pPr>
            <a:r>
              <a:rPr lang="en-US" sz="1200" dirty="0">
                <a:solidFill>
                  <a:schemeClr val="tx2"/>
                </a:solidFill>
              </a:rPr>
              <a:t>KPIs match hand-written SQL</a:t>
            </a:r>
            <a:endParaRPr lang="en-US" sz="1200" dirty="0"/>
          </a:p>
        </p:txBody>
      </p:sp>
      <p:sp>
        <p:nvSpPr>
          <p:cNvPr id="17" name="Text 14"/>
          <p:cNvSpPr txBox="1"/>
          <p:nvPr/>
        </p:nvSpPr>
        <p:spPr>
          <a:xfrm>
            <a:off x="7635240" y="4114800"/>
            <a:ext cx="40233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rPr>
              <a:t>Every card and chart drills down to the exact records; the list total equals the KPI</a:t>
            </a:r>
            <a:endParaRPr lang="en-US" sz="1400" dirty="0"/>
          </a:p>
          <a:p>
            <a:pPr marL="342900" indent="-342900">
              <a:spcAft>
                <a:spcPts val="800"/>
              </a:spcAft>
              <a:buSzPct val="100000"/>
              <a:buChar char="•"/>
            </a:pPr>
            <a:r>
              <a:rPr lang="en-US" sz="1400" dirty="0">
                <a:solidFill>
                  <a:srgbClr val="334155"/>
                </a:solidFill>
              </a:rPr>
              <a:t>After an edit the dashboard refetches: overdue 3 → 2, actual spend 3.79M → 3.89M</a:t>
            </a:r>
            <a:endParaRPr lang="en-US" sz="1400" dirty="0"/>
          </a:p>
          <a:p>
            <a:pPr marL="342900" indent="-342900">
              <a:spcAft>
                <a:spcPts val="800"/>
              </a:spcAft>
              <a:buSzPct val="100000"/>
              <a:buChar char="•"/>
            </a:pPr>
            <a:r>
              <a:rPr lang="en-US" sz="1400" dirty="0">
                <a:solidFill>
                  <a:srgbClr val="334155"/>
                </a:solidFill>
              </a:rPr>
              <a:t>Each KPI is summed from one table, so joins never inflate totals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600" b="1" dirty="0">
                <a:solidFill>
                  <a:schemeClr val="tx1"/>
                </a:solidFill>
              </a:rPr>
              <a:t>Overdue-task alerts run on a schedule, safely</a:t>
            </a:r>
            <a:endParaRPr lang="en-US" sz="3600" dirty="0"/>
          </a:p>
        </p:txBody>
      </p:sp>
      <p:sp>
        <p:nvSpPr>
          <p:cNvPr id="3" name="badge-LuClock"/>
          <p:cNvSpPr/>
          <p:nvPr/>
        </p:nvSpPr>
        <p:spPr>
          <a:xfrm>
            <a:off x="548640" y="1463040"/>
            <a:ext cx="548640" cy="54864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669341" y="1583741"/>
            <a:ext cx="307238" cy="307238"/>
          </a:xfrm>
          <a:prstGeom prst="rect">
            <a:avLst/>
          </a:prstGeom>
        </p:spPr>
      </p:pic>
      <p:sp>
        <p:nvSpPr>
          <p:cNvPr id="5" name="Text 2"/>
          <p:cNvSpPr txBox="1"/>
          <p:nvPr/>
        </p:nvSpPr>
        <p:spPr>
          <a:xfrm>
            <a:off x="1280160" y="1417320"/>
            <a:ext cx="3840480" cy="365760"/>
          </a:xfrm>
          <a:prstGeom prst="rect">
            <a:avLst/>
          </a:prstGeom>
          <a:noFill/>
          <a:ln/>
        </p:spPr>
        <p:txBody>
          <a:bodyPr wrap="square" lIns="0" tIns="0" rIns="0" bIns="0" rtlCol="0" anchor="ctr"/>
          <a:lstStyle/>
          <a:p>
            <a:pPr indent="0" marL="0">
              <a:buNone/>
            </a:pPr>
            <a:r>
              <a:rPr lang="en-US" sz="1800" b="1" dirty="0">
                <a:solidFill>
                  <a:schemeClr val="tx1"/>
                </a:solidFill>
              </a:rPr>
              <a:t>Trigger</a:t>
            </a:r>
            <a:endParaRPr lang="en-US" sz="1800" dirty="0"/>
          </a:p>
        </p:txBody>
      </p:sp>
      <p:sp>
        <p:nvSpPr>
          <p:cNvPr id="6" name="Text 3"/>
          <p:cNvSpPr txBox="1"/>
          <p:nvPr/>
        </p:nvSpPr>
        <p:spPr>
          <a:xfrm>
            <a:off x="1280160" y="1801368"/>
            <a:ext cx="3931920" cy="548640"/>
          </a:xfrm>
          <a:prstGeom prst="rect">
            <a:avLst/>
          </a:prstGeom>
          <a:noFill/>
          <a:ln/>
        </p:spPr>
        <p:txBody>
          <a:bodyPr wrap="square" lIns="0" tIns="0" rIns="0" bIns="0" rtlCol="0" anchor="t"/>
          <a:lstStyle/>
          <a:p>
            <a:pPr indent="0" marL="0">
              <a:buNone/>
            </a:pPr>
            <a:r>
              <a:rPr lang="en-US" sz="1400" dirty="0">
                <a:solidFill>
                  <a:schemeClr val="tx2"/>
                </a:solidFill>
              </a:rPr>
              <a:t>Every 5 minutes, or an admin clicks Run now</a:t>
            </a:r>
            <a:endParaRPr lang="en-US" sz="1400" dirty="0"/>
          </a:p>
        </p:txBody>
      </p:sp>
      <p:sp>
        <p:nvSpPr>
          <p:cNvPr id="7" name="badge-LuFilter"/>
          <p:cNvSpPr/>
          <p:nvPr/>
        </p:nvSpPr>
        <p:spPr>
          <a:xfrm>
            <a:off x="548640" y="2542032"/>
            <a:ext cx="548640" cy="54864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669341" y="2662733"/>
            <a:ext cx="307238" cy="307238"/>
          </a:xfrm>
          <a:prstGeom prst="rect">
            <a:avLst/>
          </a:prstGeom>
        </p:spPr>
      </p:pic>
      <p:sp>
        <p:nvSpPr>
          <p:cNvPr id="9" name="Text 5"/>
          <p:cNvSpPr txBox="1"/>
          <p:nvPr/>
        </p:nvSpPr>
        <p:spPr>
          <a:xfrm>
            <a:off x="1280160" y="2496312"/>
            <a:ext cx="3840480" cy="365760"/>
          </a:xfrm>
          <a:prstGeom prst="rect">
            <a:avLst/>
          </a:prstGeom>
          <a:noFill/>
          <a:ln/>
        </p:spPr>
        <p:txBody>
          <a:bodyPr wrap="square" lIns="0" tIns="0" rIns="0" bIns="0" rtlCol="0" anchor="ctr"/>
          <a:lstStyle/>
          <a:p>
            <a:pPr indent="0" marL="0">
              <a:buNone/>
            </a:pPr>
            <a:r>
              <a:rPr lang="en-US" sz="1800" b="1" dirty="0">
                <a:solidFill>
                  <a:schemeClr val="tx1"/>
                </a:solidFill>
              </a:rPr>
              <a:t>Rule</a:t>
            </a:r>
            <a:endParaRPr lang="en-US" sz="1800" dirty="0"/>
          </a:p>
        </p:txBody>
      </p:sp>
      <p:sp>
        <p:nvSpPr>
          <p:cNvPr id="10" name="Text 6"/>
          <p:cNvSpPr txBox="1"/>
          <p:nvPr/>
        </p:nvSpPr>
        <p:spPr>
          <a:xfrm>
            <a:off x="1280160" y="2880360"/>
            <a:ext cx="3931920" cy="548640"/>
          </a:xfrm>
          <a:prstGeom prst="rect">
            <a:avLst/>
          </a:prstGeom>
          <a:noFill/>
          <a:ln/>
        </p:spPr>
        <p:txBody>
          <a:bodyPr wrap="square" lIns="0" tIns="0" rIns="0" bIns="0" rtlCol="0" anchor="t"/>
          <a:lstStyle/>
          <a:p>
            <a:pPr indent="0" marL="0">
              <a:buNone/>
            </a:pPr>
            <a:r>
              <a:rPr lang="en-US" sz="1400" dirty="0">
                <a:solidFill>
                  <a:schemeClr val="tx2"/>
                </a:solidFill>
              </a:rPr>
              <a:t>Task not done and past its due date, on an open project</a:t>
            </a:r>
            <a:endParaRPr lang="en-US" sz="1400" dirty="0"/>
          </a:p>
        </p:txBody>
      </p:sp>
      <p:sp>
        <p:nvSpPr>
          <p:cNvPr id="11" name="badge-LuBell"/>
          <p:cNvSpPr/>
          <p:nvPr/>
        </p:nvSpPr>
        <p:spPr>
          <a:xfrm>
            <a:off x="548640" y="3621024"/>
            <a:ext cx="548640" cy="54864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669341" y="3741725"/>
            <a:ext cx="307238" cy="307238"/>
          </a:xfrm>
          <a:prstGeom prst="rect">
            <a:avLst/>
          </a:prstGeom>
        </p:spPr>
      </p:pic>
      <p:sp>
        <p:nvSpPr>
          <p:cNvPr id="13" name="Text 8"/>
          <p:cNvSpPr txBox="1"/>
          <p:nvPr/>
        </p:nvSpPr>
        <p:spPr>
          <a:xfrm>
            <a:off x="1280160" y="3575304"/>
            <a:ext cx="3840480" cy="365760"/>
          </a:xfrm>
          <a:prstGeom prst="rect">
            <a:avLst/>
          </a:prstGeom>
          <a:noFill/>
          <a:ln/>
        </p:spPr>
        <p:txBody>
          <a:bodyPr wrap="square" lIns="0" tIns="0" rIns="0" bIns="0" rtlCol="0" anchor="ctr"/>
          <a:lstStyle/>
          <a:p>
            <a:pPr indent="0" marL="0">
              <a:buNone/>
            </a:pPr>
            <a:r>
              <a:rPr lang="en-US" sz="1800" b="1" dirty="0">
                <a:solidFill>
                  <a:schemeClr val="tx1"/>
                </a:solidFill>
              </a:rPr>
              <a:t>Outcome</a:t>
            </a:r>
            <a:endParaRPr lang="en-US" sz="1800" dirty="0"/>
          </a:p>
        </p:txBody>
      </p:sp>
      <p:sp>
        <p:nvSpPr>
          <p:cNvPr id="14" name="Text 9"/>
          <p:cNvSpPr txBox="1"/>
          <p:nvPr/>
        </p:nvSpPr>
        <p:spPr>
          <a:xfrm>
            <a:off x="1280160" y="3959352"/>
            <a:ext cx="3931920" cy="548640"/>
          </a:xfrm>
          <a:prstGeom prst="rect">
            <a:avLst/>
          </a:prstGeom>
          <a:noFill/>
          <a:ln/>
        </p:spPr>
        <p:txBody>
          <a:bodyPr wrap="square" lIns="0" tIns="0" rIns="0" bIns="0" rtlCol="0" anchor="t"/>
          <a:lstStyle/>
          <a:p>
            <a:pPr indent="0" marL="0">
              <a:buNone/>
            </a:pPr>
            <a:r>
              <a:rPr lang="en-US" sz="1400" dirty="0">
                <a:solidFill>
                  <a:schemeClr val="tx2"/>
                </a:solidFill>
              </a:rPr>
              <a:t>In-app alert to the assignee (or the PM if unassigned)</a:t>
            </a:r>
            <a:endParaRPr lang="en-US" sz="1400" dirty="0"/>
          </a:p>
        </p:txBody>
      </p:sp>
      <p:sp>
        <p:nvSpPr>
          <p:cNvPr id="15" name="badge-LuHistory"/>
          <p:cNvSpPr/>
          <p:nvPr/>
        </p:nvSpPr>
        <p:spPr>
          <a:xfrm>
            <a:off x="548640" y="4700016"/>
            <a:ext cx="548640" cy="548640"/>
          </a:xfrm>
          <a:prstGeom prst="ellipse">
            <a:avLst/>
          </a:prstGeom>
          <a:solidFill>
            <a:schemeClr val="accent1"/>
          </a:solidFill>
          <a:ln w="12700">
            <a:solidFill>
              <a:schemeClr val="accent1"/>
            </a:solidFill>
            <a:prstDash val="solid"/>
          </a:ln>
        </p:spPr>
      </p:sp>
      <p:pic>
        <p:nvPicPr>
          <p:cNvPr id="16" name="Image 3" descr="preencoded.png">    </p:cNvPr>
          <p:cNvPicPr>
            <a:picLocks noChangeAspect="1"/>
          </p:cNvPicPr>
          <p:nvPr/>
        </p:nvPicPr>
        <p:blipFill>
          <a:blip r:embed="rId4"/>
          <a:stretch>
            <a:fillRect/>
          </a:stretch>
        </p:blipFill>
        <p:spPr>
          <a:xfrm>
            <a:off x="669341" y="4820717"/>
            <a:ext cx="307238" cy="307238"/>
          </a:xfrm>
          <a:prstGeom prst="rect">
            <a:avLst/>
          </a:prstGeom>
        </p:spPr>
      </p:pic>
      <p:sp>
        <p:nvSpPr>
          <p:cNvPr id="17" name="Text 11"/>
          <p:cNvSpPr txBox="1"/>
          <p:nvPr/>
        </p:nvSpPr>
        <p:spPr>
          <a:xfrm>
            <a:off x="1280160" y="4654296"/>
            <a:ext cx="3840480" cy="365760"/>
          </a:xfrm>
          <a:prstGeom prst="rect">
            <a:avLst/>
          </a:prstGeom>
          <a:noFill/>
          <a:ln/>
        </p:spPr>
        <p:txBody>
          <a:bodyPr wrap="square" lIns="0" tIns="0" rIns="0" bIns="0" rtlCol="0" anchor="ctr"/>
          <a:lstStyle/>
          <a:p>
            <a:pPr indent="0" marL="0">
              <a:buNone/>
            </a:pPr>
            <a:r>
              <a:rPr lang="en-US" sz="1800" b="1" dirty="0">
                <a:solidFill>
                  <a:schemeClr val="tx1"/>
                </a:solidFill>
              </a:rPr>
              <a:t>Run log</a:t>
            </a:r>
            <a:endParaRPr lang="en-US" sz="1800" dirty="0"/>
          </a:p>
        </p:txBody>
      </p:sp>
      <p:sp>
        <p:nvSpPr>
          <p:cNvPr id="18" name="Text 12"/>
          <p:cNvSpPr txBox="1"/>
          <p:nvPr/>
        </p:nvSpPr>
        <p:spPr>
          <a:xfrm>
            <a:off x="1280160" y="5038344"/>
            <a:ext cx="3931920" cy="548640"/>
          </a:xfrm>
          <a:prstGeom prst="rect">
            <a:avLst/>
          </a:prstGeom>
          <a:noFill/>
          <a:ln/>
        </p:spPr>
        <p:txBody>
          <a:bodyPr wrap="square" lIns="0" tIns="0" rIns="0" bIns="0" rtlCol="0" anchor="t"/>
          <a:lstStyle/>
          <a:p>
            <a:pPr indent="0" marL="0">
              <a:buNone/>
            </a:pPr>
            <a:r>
              <a:rPr lang="en-US" sz="1400" dirty="0">
                <a:solidFill>
                  <a:schemeClr val="tx2"/>
                </a:solidFill>
              </a:rPr>
              <a:t>Every attempt recorded: success or failure, error, alerts created</a:t>
            </a:r>
            <a:endParaRPr lang="en-US" sz="1400" dirty="0"/>
          </a:p>
        </p:txBody>
      </p:sp>
      <p:sp>
        <p:nvSpPr>
          <p:cNvPr id="19" name="auto-frame"/>
          <p:cNvSpPr/>
          <p:nvPr/>
        </p:nvSpPr>
        <p:spPr>
          <a:xfrm>
            <a:off x="5623560" y="1417320"/>
            <a:ext cx="6035040" cy="2580774"/>
          </a:xfrm>
          <a:prstGeom prst="rect">
            <a:avLst/>
          </a:prstGeom>
          <a:solidFill>
            <a:srgbClr val="FFFFFF"/>
          </a:solidFill>
          <a:ln w="12700">
            <a:solidFill>
              <a:srgbClr val="CBD5E1"/>
            </a:solidFill>
            <a:prstDash val="solid"/>
          </a:ln>
          <a:effectLst>
            <a:outerShdw sx="100000" sy="100000" kx="0" ky="0" algn="bl" rotWithShape="0" blurRad="101600" dist="25400" dir="5400000">
              <a:srgbClr val="000000">
                <a:alpha val="18000"/>
              </a:srgbClr>
            </a:outerShdw>
          </a:effectLst>
        </p:spPr>
      </p:sp>
      <p:pic>
        <p:nvPicPr>
          <p:cNvPr id="20" name="auto-screenshot" descr="/tmp/claude-0/-home-claude/71164dcf-2911-55e4-9dd5-e1a7ff060bf4/scratchpad/deck/automation.png">    </p:cNvPr>
          <p:cNvPicPr>
            <a:picLocks noChangeAspect="1"/>
          </p:cNvPicPr>
          <p:nvPr/>
        </p:nvPicPr>
        <p:blipFill>
          <a:blip r:embed="rId5"/>
          <a:stretch>
            <a:fillRect/>
          </a:stretch>
        </p:blipFill>
        <p:spPr>
          <a:xfrm>
            <a:off x="5623560" y="1417320"/>
            <a:ext cx="6035040" cy="2580774"/>
          </a:xfrm>
          <a:prstGeom prst="rect">
            <a:avLst/>
          </a:prstGeom>
        </p:spPr>
      </p:pic>
      <p:sp>
        <p:nvSpPr>
          <p:cNvPr id="21" name="safety-0"/>
          <p:cNvSpPr/>
          <p:nvPr/>
        </p:nvSpPr>
        <p:spPr>
          <a:xfrm>
            <a:off x="5623560" y="4206240"/>
            <a:ext cx="2926080" cy="1920240"/>
          </a:xfrm>
          <a:prstGeom prst="roundRect">
            <a:avLst>
              <a:gd name="adj" fmla="val 4762"/>
            </a:avLst>
          </a:prstGeom>
          <a:solidFill>
            <a:schemeClr val="bg2"/>
          </a:solidFill>
          <a:ln w="12700">
            <a:solidFill>
              <a:schemeClr val="bg2"/>
            </a:solidFill>
            <a:prstDash val="solid"/>
          </a:ln>
        </p:spPr>
      </p:sp>
      <p:sp>
        <p:nvSpPr>
          <p:cNvPr id="22" name="Text 15"/>
          <p:cNvSpPr txBox="1"/>
          <p:nvPr/>
        </p:nvSpPr>
        <p:spPr>
          <a:xfrm>
            <a:off x="5852160" y="4389120"/>
            <a:ext cx="2468880" cy="365760"/>
          </a:xfrm>
          <a:prstGeom prst="rect">
            <a:avLst/>
          </a:prstGeom>
          <a:noFill/>
          <a:ln/>
        </p:spPr>
        <p:txBody>
          <a:bodyPr wrap="square" lIns="0" tIns="0" rIns="0" bIns="0" rtlCol="0" anchor="ctr"/>
          <a:lstStyle/>
          <a:p>
            <a:pPr indent="0" marL="0">
              <a:buNone/>
            </a:pPr>
            <a:r>
              <a:rPr lang="en-US" sz="1800" b="1" dirty="0">
                <a:solidFill>
                  <a:schemeClr val="tx1"/>
                </a:solidFill>
              </a:rPr>
              <a:t>No duplicate alerts</a:t>
            </a:r>
            <a:endParaRPr lang="en-US" sz="1800" dirty="0"/>
          </a:p>
        </p:txBody>
      </p:sp>
      <p:sp>
        <p:nvSpPr>
          <p:cNvPr id="23" name="Text 16"/>
          <p:cNvSpPr txBox="1"/>
          <p:nvPr/>
        </p:nvSpPr>
        <p:spPr>
          <a:xfrm>
            <a:off x="5852160" y="4846320"/>
            <a:ext cx="2514600" cy="1188720"/>
          </a:xfrm>
          <a:prstGeom prst="rect">
            <a:avLst/>
          </a:prstGeom>
          <a:noFill/>
          <a:ln/>
        </p:spPr>
        <p:txBody>
          <a:bodyPr wrap="square" lIns="0" tIns="0" rIns="0" bIns="0" rtlCol="0" anchor="t"/>
          <a:lstStyle/>
          <a:p>
            <a:pPr indent="0" marL="0">
              <a:buNone/>
            </a:pPr>
            <a:r>
              <a:rPr lang="en-US" sz="1400" dirty="0">
                <a:solidFill>
                  <a:schemeClr val="tx2"/>
                </a:solidFill>
              </a:rPr>
              <a:t>Each alert has a unique key (TASK_OVERDUE:task:42); the insert skips existing keys.</a:t>
            </a:r>
            <a:endParaRPr lang="en-US" sz="1400" dirty="0"/>
          </a:p>
        </p:txBody>
      </p:sp>
      <p:sp>
        <p:nvSpPr>
          <p:cNvPr id="24" name="safety-1"/>
          <p:cNvSpPr/>
          <p:nvPr/>
        </p:nvSpPr>
        <p:spPr>
          <a:xfrm>
            <a:off x="8732520" y="4206240"/>
            <a:ext cx="2926080" cy="1920240"/>
          </a:xfrm>
          <a:prstGeom prst="roundRect">
            <a:avLst>
              <a:gd name="adj" fmla="val 4762"/>
            </a:avLst>
          </a:prstGeom>
          <a:solidFill>
            <a:schemeClr val="bg2"/>
          </a:solidFill>
          <a:ln w="12700">
            <a:solidFill>
              <a:schemeClr val="bg2"/>
            </a:solidFill>
            <a:prstDash val="solid"/>
          </a:ln>
        </p:spPr>
      </p:sp>
      <p:sp>
        <p:nvSpPr>
          <p:cNvPr id="25" name="Text 18"/>
          <p:cNvSpPr txBox="1"/>
          <p:nvPr/>
        </p:nvSpPr>
        <p:spPr>
          <a:xfrm>
            <a:off x="8961120" y="4389120"/>
            <a:ext cx="2468880" cy="365760"/>
          </a:xfrm>
          <a:prstGeom prst="rect">
            <a:avLst/>
          </a:prstGeom>
          <a:noFill/>
          <a:ln/>
        </p:spPr>
        <p:txBody>
          <a:bodyPr wrap="square" lIns="0" tIns="0" rIns="0" bIns="0" rtlCol="0" anchor="ctr"/>
          <a:lstStyle/>
          <a:p>
            <a:pPr indent="0" marL="0">
              <a:buNone/>
            </a:pPr>
            <a:r>
              <a:rPr lang="en-US" sz="1800" b="1" dirty="0">
                <a:solidFill>
                  <a:schemeClr val="tx1"/>
                </a:solidFill>
              </a:rPr>
              <a:t>Safe retry</a:t>
            </a:r>
            <a:endParaRPr lang="en-US" sz="1800" dirty="0"/>
          </a:p>
        </p:txBody>
      </p:sp>
      <p:sp>
        <p:nvSpPr>
          <p:cNvPr id="26" name="Text 19"/>
          <p:cNvSpPr txBox="1"/>
          <p:nvPr/>
        </p:nvSpPr>
        <p:spPr>
          <a:xfrm>
            <a:off x="8961120" y="4846320"/>
            <a:ext cx="2514600" cy="1188720"/>
          </a:xfrm>
          <a:prstGeom prst="rect">
            <a:avLst/>
          </a:prstGeom>
          <a:noFill/>
          <a:ln/>
        </p:spPr>
        <p:txBody>
          <a:bodyPr wrap="square" lIns="0" tIns="0" rIns="0" bIns="0" rtlCol="0" anchor="t"/>
          <a:lstStyle/>
          <a:p>
            <a:pPr indent="0" marL="0">
              <a:buNone/>
            </a:pPr>
            <a:r>
              <a:rPr lang="en-US" sz="1400" dirty="0">
                <a:solidFill>
                  <a:schemeClr val="tx2"/>
                </a:solidFill>
              </a:rPr>
              <a:t>A failed attempt is rolled back, logged as Failed and retried up to 3 times.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600" b="1" dirty="0">
                <a:solidFill>
                  <a:schemeClr val="tx1"/>
                </a:solidFill>
              </a:rPr>
              <a:t>AI sped up the build; every output was verified</a:t>
            </a:r>
            <a:endParaRPr lang="en-US" sz="3600" dirty="0"/>
          </a:p>
        </p:txBody>
      </p:sp>
      <p:sp>
        <p:nvSpPr>
          <p:cNvPr id="3" name="Text 1"/>
          <p:cNvSpPr txBox="1"/>
          <p:nvPr/>
        </p:nvSpPr>
        <p:spPr>
          <a:xfrm>
            <a:off x="548640" y="1371600"/>
            <a:ext cx="4937760" cy="411480"/>
          </a:xfrm>
          <a:prstGeom prst="rect">
            <a:avLst/>
          </a:prstGeom>
          <a:noFill/>
          <a:ln/>
        </p:spPr>
        <p:txBody>
          <a:bodyPr wrap="square" lIns="0" tIns="0" rIns="0" bIns="0" rtlCol="0" anchor="ctr"/>
          <a:lstStyle/>
          <a:p>
            <a:pPr indent="0" marL="0">
              <a:buNone/>
            </a:pPr>
            <a:r>
              <a:rPr lang="en-US" sz="2000" b="1" dirty="0">
                <a:solidFill>
                  <a:schemeClr val="tx1"/>
                </a:solidFill>
              </a:rPr>
              <a:t>How I worked with AI</a:t>
            </a:r>
            <a:endParaRPr lang="en-US" sz="2000" dirty="0"/>
          </a:p>
        </p:txBody>
      </p:sp>
      <p:sp>
        <p:nvSpPr>
          <p:cNvPr id="4" name="step-0"/>
          <p:cNvSpPr/>
          <p:nvPr/>
        </p:nvSpPr>
        <p:spPr>
          <a:xfrm>
            <a:off x="548640" y="192024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54864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188720" y="1783080"/>
            <a:ext cx="4297680" cy="731520"/>
          </a:xfrm>
          <a:prstGeom prst="rect">
            <a:avLst/>
          </a:prstGeom>
          <a:noFill/>
          <a:ln/>
        </p:spPr>
        <p:txBody>
          <a:bodyPr wrap="square" lIns="0" tIns="0" rIns="0" bIns="0" rtlCol="0" anchor="ctr"/>
          <a:lstStyle/>
          <a:p>
            <a:pPr indent="0" marL="0">
              <a:buNone/>
            </a:pPr>
            <a:r>
              <a:rPr lang="en-US" sz="1400" dirty="0">
                <a:solidFill>
                  <a:srgbClr val="334155"/>
                </a:solidFill>
              </a:rPr>
              <a:t>Turned the brief into phases, each with a "done when" check</a:t>
            </a:r>
            <a:endParaRPr lang="en-US" sz="1400" dirty="0"/>
          </a:p>
        </p:txBody>
      </p:sp>
      <p:sp>
        <p:nvSpPr>
          <p:cNvPr id="7" name="step-1"/>
          <p:cNvSpPr/>
          <p:nvPr/>
        </p:nvSpPr>
        <p:spPr>
          <a:xfrm>
            <a:off x="548640" y="278892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548640" y="2788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188720" y="2651760"/>
            <a:ext cx="4297680" cy="731520"/>
          </a:xfrm>
          <a:prstGeom prst="rect">
            <a:avLst/>
          </a:prstGeom>
          <a:noFill/>
          <a:ln/>
        </p:spPr>
        <p:txBody>
          <a:bodyPr wrap="square" lIns="0" tIns="0" rIns="0" bIns="0" rtlCol="0" anchor="ctr"/>
          <a:lstStyle/>
          <a:p>
            <a:pPr indent="0" marL="0">
              <a:buNone/>
            </a:pPr>
            <a:r>
              <a:rPr lang="en-US" sz="1400" dirty="0">
                <a:solidFill>
                  <a:srgbClr val="334155"/>
                </a:solidFill>
              </a:rPr>
              <a:t>Gave exact rules: approved revisions only, posted costs to the cutoff, no self-approval</a:t>
            </a:r>
            <a:endParaRPr lang="en-US" sz="1400" dirty="0"/>
          </a:p>
        </p:txBody>
      </p:sp>
      <p:sp>
        <p:nvSpPr>
          <p:cNvPr id="10" name="step-2"/>
          <p:cNvSpPr/>
          <p:nvPr/>
        </p:nvSpPr>
        <p:spPr>
          <a:xfrm>
            <a:off x="548640" y="3657600"/>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188720" y="3520440"/>
            <a:ext cx="4297680" cy="731520"/>
          </a:xfrm>
          <a:prstGeom prst="rect">
            <a:avLst/>
          </a:prstGeom>
          <a:noFill/>
          <a:ln/>
        </p:spPr>
        <p:txBody>
          <a:bodyPr wrap="square" lIns="0" tIns="0" rIns="0" bIns="0" rtlCol="0" anchor="ctr"/>
          <a:lstStyle/>
          <a:p>
            <a:pPr indent="0" marL="0">
              <a:buNone/>
            </a:pPr>
            <a:r>
              <a:rPr lang="en-US" sz="1400" dirty="0">
                <a:solidFill>
                  <a:srgbClr val="334155"/>
                </a:solidFill>
              </a:rPr>
              <a:t>Asked for readable code: one job per file, rules in one place</a:t>
            </a:r>
            <a:endParaRPr lang="en-US" sz="1400" dirty="0"/>
          </a:p>
        </p:txBody>
      </p:sp>
      <p:sp>
        <p:nvSpPr>
          <p:cNvPr id="13" name="step-3"/>
          <p:cNvSpPr/>
          <p:nvPr/>
        </p:nvSpPr>
        <p:spPr>
          <a:xfrm>
            <a:off x="548640" y="4526280"/>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5" name="Text 13"/>
          <p:cNvSpPr txBox="1"/>
          <p:nvPr/>
        </p:nvSpPr>
        <p:spPr>
          <a:xfrm>
            <a:off x="1188720" y="4389120"/>
            <a:ext cx="4297680" cy="731520"/>
          </a:xfrm>
          <a:prstGeom prst="rect">
            <a:avLst/>
          </a:prstGeom>
          <a:noFill/>
          <a:ln/>
        </p:spPr>
        <p:txBody>
          <a:bodyPr wrap="square" lIns="0" tIns="0" rIns="0" bIns="0" rtlCol="0" anchor="ctr"/>
          <a:lstStyle/>
          <a:p>
            <a:pPr indent="0" marL="0">
              <a:buNone/>
            </a:pPr>
            <a:r>
              <a:rPr lang="en-US" sz="1400" dirty="0">
                <a:solidFill>
                  <a:srgbClr val="334155"/>
                </a:solidFill>
              </a:rPr>
              <a:t>Ran every phase on real PostgreSQL before accepting it, then on my machine</a:t>
            </a:r>
            <a:endParaRPr lang="en-US" sz="1400" dirty="0"/>
          </a:p>
        </p:txBody>
      </p:sp>
      <p:sp>
        <p:nvSpPr>
          <p:cNvPr id="16" name="Text 14"/>
          <p:cNvSpPr txBox="1"/>
          <p:nvPr/>
        </p:nvSpPr>
        <p:spPr>
          <a:xfrm>
            <a:off x="6035040" y="1371600"/>
            <a:ext cx="5577840" cy="411480"/>
          </a:xfrm>
          <a:prstGeom prst="rect">
            <a:avLst/>
          </a:prstGeom>
          <a:noFill/>
          <a:ln/>
        </p:spPr>
        <p:txBody>
          <a:bodyPr wrap="square" lIns="0" tIns="0" rIns="0" bIns="0" rtlCol="0" anchor="ctr"/>
          <a:lstStyle/>
          <a:p>
            <a:pPr indent="0" marL="0">
              <a:buNone/>
            </a:pPr>
            <a:r>
              <a:rPr lang="en-US" sz="2000" b="1" dirty="0">
                <a:solidFill>
                  <a:schemeClr val="tx1"/>
                </a:solidFill>
              </a:rPr>
              <a:t>Where the AI was wrong, and the fix</a:t>
            </a:r>
            <a:endParaRPr lang="en-US" sz="2000" dirty="0"/>
          </a:p>
        </p:txBody>
      </p:sp>
      <p:sp>
        <p:nvSpPr>
          <p:cNvPr id="17" name="mistake-0"/>
          <p:cNvSpPr/>
          <p:nvPr/>
        </p:nvSpPr>
        <p:spPr>
          <a:xfrm>
            <a:off x="6035040" y="1874520"/>
            <a:ext cx="5577840" cy="804672"/>
          </a:xfrm>
          <a:prstGeom prst="roundRect">
            <a:avLst>
              <a:gd name="adj" fmla="val 9091"/>
            </a:avLst>
          </a:prstGeom>
          <a:solidFill>
            <a:schemeClr val="bg2"/>
          </a:solidFill>
          <a:ln w="12700">
            <a:solidFill>
              <a:schemeClr val="bg2"/>
            </a:solidFill>
            <a:prstDash val="solid"/>
          </a:ln>
        </p:spPr>
      </p:sp>
      <p:sp>
        <p:nvSpPr>
          <p:cNvPr id="18" name="Text 16"/>
          <p:cNvSpPr txBox="1"/>
          <p:nvPr/>
        </p:nvSpPr>
        <p:spPr>
          <a:xfrm>
            <a:off x="6217920" y="1874520"/>
            <a:ext cx="5257800" cy="804672"/>
          </a:xfrm>
          <a:prstGeom prst="rect">
            <a:avLst/>
          </a:prstGeom>
          <a:noFill/>
          <a:ln/>
        </p:spPr>
        <p:txBody>
          <a:bodyPr wrap="square" lIns="0" tIns="0" rIns="0" bIns="0" rtlCol="0" anchor="ctr"/>
          <a:lstStyle/>
          <a:p>
            <a:pPr indent="0" marL="0">
              <a:buNone/>
            </a:pPr>
            <a:r>
              <a:rPr lang="en-US" sz="1400" b="1" dirty="0">
                <a:solidFill>
                  <a:srgbClr val="0F172A"/>
                </a:solidFill>
              </a:rPr>
              <a:t>Hard-coded SQL placeholder</a:t>
            </a:r>
            <a:endParaRPr lang="en-US" sz="1400" dirty="0"/>
          </a:p>
          <a:p>
            <a:pPr indent="0" marL="0">
              <a:buNone/>
            </a:pPr>
            <a:r>
              <a:rPr lang="en-US" sz="1400" dirty="0">
                <a:solidFill>
                  <a:srgbClr val="334155"/>
                </a:solidFill>
              </a:rPr>
              <a:t>Search used $2 - wrong once access filters were added. Fixed in the filter helper.</a:t>
            </a:r>
            <a:endParaRPr lang="en-US" sz="1400" dirty="0"/>
          </a:p>
        </p:txBody>
      </p:sp>
      <p:sp>
        <p:nvSpPr>
          <p:cNvPr id="19" name="mistake-1"/>
          <p:cNvSpPr/>
          <p:nvPr/>
        </p:nvSpPr>
        <p:spPr>
          <a:xfrm>
            <a:off x="6035040" y="2788920"/>
            <a:ext cx="5577840" cy="804672"/>
          </a:xfrm>
          <a:prstGeom prst="roundRect">
            <a:avLst>
              <a:gd name="adj" fmla="val 9091"/>
            </a:avLst>
          </a:prstGeom>
          <a:solidFill>
            <a:schemeClr val="bg2"/>
          </a:solidFill>
          <a:ln w="12700">
            <a:solidFill>
              <a:schemeClr val="bg2"/>
            </a:solidFill>
            <a:prstDash val="solid"/>
          </a:ln>
        </p:spPr>
      </p:sp>
      <p:sp>
        <p:nvSpPr>
          <p:cNvPr id="20" name="Text 18"/>
          <p:cNvSpPr txBox="1"/>
          <p:nvPr/>
        </p:nvSpPr>
        <p:spPr>
          <a:xfrm>
            <a:off x="6217920" y="2788920"/>
            <a:ext cx="5257800" cy="804672"/>
          </a:xfrm>
          <a:prstGeom prst="rect">
            <a:avLst/>
          </a:prstGeom>
          <a:noFill/>
          <a:ln/>
        </p:spPr>
        <p:txBody>
          <a:bodyPr wrap="square" lIns="0" tIns="0" rIns="0" bIns="0" rtlCol="0" anchor="ctr"/>
          <a:lstStyle/>
          <a:p>
            <a:pPr indent="0" marL="0">
              <a:buNone/>
            </a:pPr>
            <a:r>
              <a:rPr lang="en-US" sz="1400" b="1" dirty="0">
                <a:solidFill>
                  <a:srgbClr val="0F172A"/>
                </a:solidFill>
              </a:rPr>
              <a:t>Silent data loss</a:t>
            </a:r>
            <a:endParaRPr lang="en-US" sz="1400" dirty="0"/>
          </a:p>
          <a:p>
            <a:pPr indent="0" marL="0">
              <a:buNone/>
            </a:pPr>
            <a:r>
              <a:rPr lang="en-US" sz="1400" dirty="0">
                <a:solidFill>
                  <a:srgbClr val="334155"/>
                </a:solidFill>
              </a:rPr>
              <a:t>Task list omitted description, so editing would wipe it. Added to the query.</a:t>
            </a:r>
            <a:endParaRPr lang="en-US" sz="1400" dirty="0"/>
          </a:p>
        </p:txBody>
      </p:sp>
      <p:sp>
        <p:nvSpPr>
          <p:cNvPr id="21" name="mistake-2"/>
          <p:cNvSpPr/>
          <p:nvPr/>
        </p:nvSpPr>
        <p:spPr>
          <a:xfrm>
            <a:off x="6035040" y="3703320"/>
            <a:ext cx="5577840" cy="804672"/>
          </a:xfrm>
          <a:prstGeom prst="roundRect">
            <a:avLst>
              <a:gd name="adj" fmla="val 9091"/>
            </a:avLst>
          </a:prstGeom>
          <a:solidFill>
            <a:schemeClr val="bg2"/>
          </a:solidFill>
          <a:ln w="12700">
            <a:solidFill>
              <a:schemeClr val="bg2"/>
            </a:solidFill>
            <a:prstDash val="solid"/>
          </a:ln>
        </p:spPr>
      </p:sp>
      <p:sp>
        <p:nvSpPr>
          <p:cNvPr id="22" name="Text 20"/>
          <p:cNvSpPr txBox="1"/>
          <p:nvPr/>
        </p:nvSpPr>
        <p:spPr>
          <a:xfrm>
            <a:off x="6217920" y="3703320"/>
            <a:ext cx="5257800" cy="804672"/>
          </a:xfrm>
          <a:prstGeom prst="rect">
            <a:avLst/>
          </a:prstGeom>
          <a:noFill/>
          <a:ln/>
        </p:spPr>
        <p:txBody>
          <a:bodyPr wrap="square" lIns="0" tIns="0" rIns="0" bIns="0" rtlCol="0" anchor="ctr"/>
          <a:lstStyle/>
          <a:p>
            <a:pPr indent="0" marL="0">
              <a:buNone/>
            </a:pPr>
            <a:r>
              <a:rPr lang="en-US" sz="1400" b="1" dirty="0">
                <a:solidFill>
                  <a:srgbClr val="0F172A"/>
                </a:solidFill>
              </a:rPr>
              <a:t>Charts at the wrong width</a:t>
            </a:r>
            <a:endParaRPr lang="en-US" sz="1400" dirty="0"/>
          </a:p>
          <a:p>
            <a:pPr indent="0" marL="0">
              <a:buNone/>
            </a:pPr>
            <a:r>
              <a:rPr lang="en-US" sz="1400" dirty="0">
                <a:solidFill>
                  <a:srgbClr val="334155"/>
                </a:solidFill>
              </a:rPr>
              <a:t>Grid item would not shrink; fixed with min-width 0, checked by screenshot.</a:t>
            </a:r>
            <a:endParaRPr lang="en-US" sz="1400" dirty="0"/>
          </a:p>
        </p:txBody>
      </p:sp>
      <p:sp>
        <p:nvSpPr>
          <p:cNvPr id="23" name="mistake-3"/>
          <p:cNvSpPr/>
          <p:nvPr/>
        </p:nvSpPr>
        <p:spPr>
          <a:xfrm>
            <a:off x="6035040" y="4617720"/>
            <a:ext cx="5577840" cy="804672"/>
          </a:xfrm>
          <a:prstGeom prst="roundRect">
            <a:avLst>
              <a:gd name="adj" fmla="val 9091"/>
            </a:avLst>
          </a:prstGeom>
          <a:solidFill>
            <a:schemeClr val="bg2"/>
          </a:solidFill>
          <a:ln w="12700">
            <a:solidFill>
              <a:schemeClr val="bg2"/>
            </a:solidFill>
            <a:prstDash val="solid"/>
          </a:ln>
        </p:spPr>
      </p:sp>
      <p:sp>
        <p:nvSpPr>
          <p:cNvPr id="24" name="Text 22"/>
          <p:cNvSpPr txBox="1"/>
          <p:nvPr/>
        </p:nvSpPr>
        <p:spPr>
          <a:xfrm>
            <a:off x="6217920" y="4617720"/>
            <a:ext cx="5257800" cy="804672"/>
          </a:xfrm>
          <a:prstGeom prst="rect">
            <a:avLst/>
          </a:prstGeom>
          <a:noFill/>
          <a:ln/>
        </p:spPr>
        <p:txBody>
          <a:bodyPr wrap="square" lIns="0" tIns="0" rIns="0" bIns="0" rtlCol="0" anchor="ctr"/>
          <a:lstStyle/>
          <a:p>
            <a:pPr indent="0" marL="0">
              <a:buNone/>
            </a:pPr>
            <a:r>
              <a:rPr lang="en-US" sz="1400" b="1" dirty="0">
                <a:solidFill>
                  <a:srgbClr val="0F172A"/>
                </a:solidFill>
              </a:rPr>
              <a:t>Filter reset itself</a:t>
            </a:r>
            <a:endParaRPr lang="en-US" sz="1400" dirty="0"/>
          </a:p>
          <a:p>
            <a:pPr indent="0" marL="0">
              <a:buNone/>
            </a:pPr>
            <a:r>
              <a:rPr lang="en-US" sz="1400" dirty="0">
                <a:solidFill>
                  <a:srgbClr val="334155"/>
                </a:solidFill>
              </a:rPr>
              <a:t>"All statuses" fell back to the default. Fixed with an explicit ALL value.</a:t>
            </a:r>
            <a:endParaRPr lang="en-US" sz="1400" dirty="0"/>
          </a:p>
        </p:txBody>
      </p:sp>
      <p:sp>
        <p:nvSpPr>
          <p:cNvPr id="25" name="Text 23"/>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400" i="1" dirty="0">
                <a:solidFill>
                  <a:schemeClr val="accent1"/>
                </a:solidFill>
              </a:rPr>
              <a:t>Tests were checked too: I broke a permission rule on purpose → 3 tests failed → restored → 10 / 10 pass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bg1"/>
                </a:solidFill>
              </a:rPr>
              <a:t>Tested end to end and ready to run</a:t>
            </a:r>
            <a:endParaRPr lang="en-US" sz="3600" dirty="0"/>
          </a:p>
        </p:txBody>
      </p:sp>
      <p:sp>
        <p:nvSpPr>
          <p:cNvPr id="3" name="proof-0"/>
          <p:cNvSpPr/>
          <p:nvPr/>
        </p:nvSpPr>
        <p:spPr>
          <a:xfrm>
            <a:off x="548640" y="1463040"/>
            <a:ext cx="2651760" cy="1554480"/>
          </a:xfrm>
          <a:prstGeom prst="roundRect">
            <a:avLst>
              <a:gd name="adj" fmla="val 5882"/>
            </a:avLst>
          </a:prstGeom>
          <a:solidFill>
            <a:srgbClr val="1E293B"/>
          </a:solidFill>
          <a:ln w="12700">
            <a:solidFill>
              <a:srgbClr val="1E293B"/>
            </a:solidFill>
            <a:prstDash val="solid"/>
          </a:ln>
        </p:spPr>
      </p:sp>
      <p:sp>
        <p:nvSpPr>
          <p:cNvPr id="4" name="Text 2"/>
          <p:cNvSpPr txBox="1"/>
          <p:nvPr/>
        </p:nvSpPr>
        <p:spPr>
          <a:xfrm>
            <a:off x="777240" y="1600200"/>
            <a:ext cx="2194560" cy="731520"/>
          </a:xfrm>
          <a:prstGeom prst="rect">
            <a:avLst/>
          </a:prstGeom>
          <a:noFill/>
          <a:ln/>
        </p:spPr>
        <p:txBody>
          <a:bodyPr wrap="square" lIns="0" tIns="0" rIns="0" bIns="0" rtlCol="0" anchor="ctr"/>
          <a:lstStyle/>
          <a:p>
            <a:pPr indent="0" marL="0">
              <a:buNone/>
            </a:pPr>
            <a:r>
              <a:rPr lang="en-US" sz="4000" b="1" dirty="0">
                <a:solidFill>
                  <a:srgbClr val="C7D2FE"/>
                </a:solidFill>
              </a:rPr>
              <a:t>10 / 10</a:t>
            </a:r>
            <a:endParaRPr lang="en-US" sz="4000" dirty="0"/>
          </a:p>
        </p:txBody>
      </p:sp>
      <p:sp>
        <p:nvSpPr>
          <p:cNvPr id="5" name="Text 3"/>
          <p:cNvSpPr txBox="1"/>
          <p:nvPr/>
        </p:nvSpPr>
        <p:spPr>
          <a:xfrm>
            <a:off x="777240" y="2377440"/>
            <a:ext cx="2240280" cy="548640"/>
          </a:xfrm>
          <a:prstGeom prst="rect">
            <a:avLst/>
          </a:prstGeom>
          <a:noFill/>
          <a:ln/>
        </p:spPr>
        <p:txBody>
          <a:bodyPr wrap="square" lIns="0" tIns="0" rIns="0" bIns="0" rtlCol="0" anchor="t"/>
          <a:lstStyle/>
          <a:p>
            <a:pPr indent="0" marL="0">
              <a:buNone/>
            </a:pPr>
            <a:r>
              <a:rPr lang="en-US" sz="1400" dirty="0">
                <a:solidFill>
                  <a:srgbClr val="CBD5E1"/>
                </a:solidFill>
              </a:rPr>
              <a:t>automated API tests (npm test)</a:t>
            </a:r>
            <a:endParaRPr lang="en-US" sz="1400" dirty="0"/>
          </a:p>
        </p:txBody>
      </p:sp>
      <p:sp>
        <p:nvSpPr>
          <p:cNvPr id="6" name="proof-1"/>
          <p:cNvSpPr/>
          <p:nvPr/>
        </p:nvSpPr>
        <p:spPr>
          <a:xfrm>
            <a:off x="3383280" y="1463040"/>
            <a:ext cx="2651760" cy="1554480"/>
          </a:xfrm>
          <a:prstGeom prst="roundRect">
            <a:avLst>
              <a:gd name="adj" fmla="val 5882"/>
            </a:avLst>
          </a:prstGeom>
          <a:solidFill>
            <a:srgbClr val="1E293B"/>
          </a:solidFill>
          <a:ln w="12700">
            <a:solidFill>
              <a:srgbClr val="1E293B"/>
            </a:solidFill>
            <a:prstDash val="solid"/>
          </a:ln>
        </p:spPr>
      </p:sp>
      <p:sp>
        <p:nvSpPr>
          <p:cNvPr id="7" name="Text 5"/>
          <p:cNvSpPr txBox="1"/>
          <p:nvPr/>
        </p:nvSpPr>
        <p:spPr>
          <a:xfrm>
            <a:off x="3611880" y="1600200"/>
            <a:ext cx="2194560" cy="731520"/>
          </a:xfrm>
          <a:prstGeom prst="rect">
            <a:avLst/>
          </a:prstGeom>
          <a:noFill/>
          <a:ln/>
        </p:spPr>
        <p:txBody>
          <a:bodyPr wrap="square" lIns="0" tIns="0" rIns="0" bIns="0" rtlCol="0" anchor="ctr"/>
          <a:lstStyle/>
          <a:p>
            <a:pPr indent="0" marL="0">
              <a:buNone/>
            </a:pPr>
            <a:r>
              <a:rPr lang="en-US" sz="4000" b="1" dirty="0">
                <a:solidFill>
                  <a:srgbClr val="C7D2FE"/>
                </a:solidFill>
              </a:rPr>
              <a:t>49</a:t>
            </a:r>
            <a:endParaRPr lang="en-US" sz="4000" dirty="0"/>
          </a:p>
        </p:txBody>
      </p:sp>
      <p:sp>
        <p:nvSpPr>
          <p:cNvPr id="8" name="Text 6"/>
          <p:cNvSpPr txBox="1"/>
          <p:nvPr/>
        </p:nvSpPr>
        <p:spPr>
          <a:xfrm>
            <a:off x="3611880" y="2377440"/>
            <a:ext cx="2240280" cy="548640"/>
          </a:xfrm>
          <a:prstGeom prst="rect">
            <a:avLst/>
          </a:prstGeom>
          <a:noFill/>
          <a:ln/>
        </p:spPr>
        <p:txBody>
          <a:bodyPr wrap="square" lIns="0" tIns="0" rIns="0" bIns="0" rtlCol="0" anchor="t"/>
          <a:lstStyle/>
          <a:p>
            <a:pPr indent="0" marL="0">
              <a:buNone/>
            </a:pPr>
            <a:r>
              <a:rPr lang="en-US" sz="1400" dirty="0">
                <a:solidFill>
                  <a:srgbClr val="CBD5E1"/>
                </a:solidFill>
              </a:rPr>
              <a:t>API journey checks during development</a:t>
            </a:r>
            <a:endParaRPr lang="en-US" sz="1400" dirty="0"/>
          </a:p>
        </p:txBody>
      </p:sp>
      <p:sp>
        <p:nvSpPr>
          <p:cNvPr id="9" name="proof-2"/>
          <p:cNvSpPr/>
          <p:nvPr/>
        </p:nvSpPr>
        <p:spPr>
          <a:xfrm>
            <a:off x="6217920" y="1463040"/>
            <a:ext cx="2651760" cy="1554480"/>
          </a:xfrm>
          <a:prstGeom prst="roundRect">
            <a:avLst>
              <a:gd name="adj" fmla="val 5882"/>
            </a:avLst>
          </a:prstGeom>
          <a:solidFill>
            <a:srgbClr val="1E293B"/>
          </a:solidFill>
          <a:ln w="12700">
            <a:solidFill>
              <a:srgbClr val="1E293B"/>
            </a:solidFill>
            <a:prstDash val="solid"/>
          </a:ln>
        </p:spPr>
      </p:sp>
      <p:sp>
        <p:nvSpPr>
          <p:cNvPr id="10" name="Text 8"/>
          <p:cNvSpPr txBox="1"/>
          <p:nvPr/>
        </p:nvSpPr>
        <p:spPr>
          <a:xfrm>
            <a:off x="6446520" y="1600200"/>
            <a:ext cx="2194560" cy="731520"/>
          </a:xfrm>
          <a:prstGeom prst="rect">
            <a:avLst/>
          </a:prstGeom>
          <a:noFill/>
          <a:ln/>
        </p:spPr>
        <p:txBody>
          <a:bodyPr wrap="square" lIns="0" tIns="0" rIns="0" bIns="0" rtlCol="0" anchor="ctr"/>
          <a:lstStyle/>
          <a:p>
            <a:pPr indent="0" marL="0">
              <a:buNone/>
            </a:pPr>
            <a:r>
              <a:rPr lang="en-US" sz="4000" b="1" dirty="0">
                <a:solidFill>
                  <a:srgbClr val="C7D2FE"/>
                </a:solidFill>
              </a:rPr>
              <a:t>41</a:t>
            </a:r>
            <a:endParaRPr lang="en-US" sz="4000" dirty="0"/>
          </a:p>
        </p:txBody>
      </p:sp>
      <p:sp>
        <p:nvSpPr>
          <p:cNvPr id="11" name="Text 9"/>
          <p:cNvSpPr txBox="1"/>
          <p:nvPr/>
        </p:nvSpPr>
        <p:spPr>
          <a:xfrm>
            <a:off x="6446520" y="2377440"/>
            <a:ext cx="2240280" cy="548640"/>
          </a:xfrm>
          <a:prstGeom prst="rect">
            <a:avLst/>
          </a:prstGeom>
          <a:noFill/>
          <a:ln/>
        </p:spPr>
        <p:txBody>
          <a:bodyPr wrap="square" lIns="0" tIns="0" rIns="0" bIns="0" rtlCol="0" anchor="t"/>
          <a:lstStyle/>
          <a:p>
            <a:pPr indent="0" marL="0">
              <a:buNone/>
            </a:pPr>
            <a:r>
              <a:rPr lang="en-US" sz="1400" dirty="0">
                <a:solidFill>
                  <a:srgbClr val="CBD5E1"/>
                </a:solidFill>
              </a:rPr>
              <a:t>browser checks across all journeys</a:t>
            </a:r>
            <a:endParaRPr lang="en-US" sz="1400" dirty="0"/>
          </a:p>
        </p:txBody>
      </p:sp>
      <p:sp>
        <p:nvSpPr>
          <p:cNvPr id="12" name="proof-3"/>
          <p:cNvSpPr/>
          <p:nvPr/>
        </p:nvSpPr>
        <p:spPr>
          <a:xfrm>
            <a:off x="9052560" y="1463040"/>
            <a:ext cx="2651760" cy="1554480"/>
          </a:xfrm>
          <a:prstGeom prst="roundRect">
            <a:avLst>
              <a:gd name="adj" fmla="val 5882"/>
            </a:avLst>
          </a:prstGeom>
          <a:solidFill>
            <a:srgbClr val="1E293B"/>
          </a:solidFill>
          <a:ln w="12700">
            <a:solidFill>
              <a:srgbClr val="1E293B"/>
            </a:solidFill>
            <a:prstDash val="solid"/>
          </a:ln>
        </p:spPr>
      </p:sp>
      <p:sp>
        <p:nvSpPr>
          <p:cNvPr id="13" name="Text 11"/>
          <p:cNvSpPr txBox="1"/>
          <p:nvPr/>
        </p:nvSpPr>
        <p:spPr>
          <a:xfrm>
            <a:off x="9281160" y="1600200"/>
            <a:ext cx="2194560" cy="731520"/>
          </a:xfrm>
          <a:prstGeom prst="rect">
            <a:avLst/>
          </a:prstGeom>
          <a:noFill/>
          <a:ln/>
        </p:spPr>
        <p:txBody>
          <a:bodyPr wrap="square" lIns="0" tIns="0" rIns="0" bIns="0" rtlCol="0" anchor="ctr"/>
          <a:lstStyle/>
          <a:p>
            <a:pPr indent="0" marL="0">
              <a:buNone/>
            </a:pPr>
            <a:r>
              <a:rPr lang="en-US" sz="4000" b="1" dirty="0">
                <a:solidFill>
                  <a:srgbClr val="C7D2FE"/>
                </a:solidFill>
              </a:rPr>
              <a:t>8</a:t>
            </a:r>
            <a:endParaRPr lang="en-US" sz="4000" dirty="0"/>
          </a:p>
        </p:txBody>
      </p:sp>
      <p:sp>
        <p:nvSpPr>
          <p:cNvPr id="14" name="Text 12"/>
          <p:cNvSpPr txBox="1"/>
          <p:nvPr/>
        </p:nvSpPr>
        <p:spPr>
          <a:xfrm>
            <a:off x="9281160" y="2377440"/>
            <a:ext cx="2240280" cy="548640"/>
          </a:xfrm>
          <a:prstGeom prst="rect">
            <a:avLst/>
          </a:prstGeom>
          <a:noFill/>
          <a:ln/>
        </p:spPr>
        <p:txBody>
          <a:bodyPr wrap="square" lIns="0" tIns="0" rIns="0" bIns="0" rtlCol="0" anchor="t"/>
          <a:lstStyle/>
          <a:p>
            <a:pPr indent="0" marL="0">
              <a:buNone/>
            </a:pPr>
            <a:r>
              <a:rPr lang="en-US" sz="1400" dirty="0">
                <a:solidFill>
                  <a:srgbClr val="CBD5E1"/>
                </a:solidFill>
              </a:rPr>
              <a:t>acceptance tests A-H, step by step</a:t>
            </a:r>
            <a:endParaRPr lang="en-US" sz="1400" dirty="0"/>
          </a:p>
        </p:txBody>
      </p:sp>
      <p:sp>
        <p:nvSpPr>
          <p:cNvPr id="15" name="Text 13"/>
          <p:cNvSpPr txBox="1"/>
          <p:nvPr/>
        </p:nvSpPr>
        <p:spPr>
          <a:xfrm>
            <a:off x="548640" y="3429000"/>
            <a:ext cx="5486400" cy="411480"/>
          </a:xfrm>
          <a:prstGeom prst="rect">
            <a:avLst/>
          </a:prstGeom>
          <a:noFill/>
          <a:ln/>
        </p:spPr>
        <p:txBody>
          <a:bodyPr wrap="square" lIns="0" tIns="0" rIns="0" bIns="0" rtlCol="0" anchor="ctr"/>
          <a:lstStyle/>
          <a:p>
            <a:pPr indent="0" marL="0">
              <a:buNone/>
            </a:pPr>
            <a:r>
              <a:rPr lang="en-US" sz="2000" b="1" dirty="0">
                <a:solidFill>
                  <a:srgbClr val="FFFFFF"/>
                </a:solidFill>
              </a:rPr>
              <a:t>Delivered</a:t>
            </a:r>
            <a:endParaRPr lang="en-US" sz="2000" dirty="0"/>
          </a:p>
        </p:txBody>
      </p:sp>
      <p:sp>
        <p:nvSpPr>
          <p:cNvPr id="16" name="Text 14"/>
          <p:cNvSpPr txBox="1"/>
          <p:nvPr/>
        </p:nvSpPr>
        <p:spPr>
          <a:xfrm>
            <a:off x="548640" y="3931920"/>
            <a:ext cx="5486400" cy="21031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E2E8F0"/>
                </a:solidFill>
              </a:rPr>
              <a:t>Source on GitHub with one commit per phase</a:t>
            </a:r>
            <a:endParaRPr lang="en-US" sz="1600" dirty="0"/>
          </a:p>
          <a:p>
            <a:pPr marL="342900" indent="-342900">
              <a:spcAft>
                <a:spcPts val="600"/>
              </a:spcAft>
              <a:buSzPct val="100000"/>
              <a:buChar char="•"/>
            </a:pPr>
            <a:r>
              <a:rPr lang="en-US" sz="1600" dirty="0">
                <a:solidFill>
                  <a:srgbClr val="E2E8F0"/>
                </a:solidFill>
              </a:rPr>
              <a:t>docker compose up → migrate → seed → run (README)</a:t>
            </a:r>
            <a:endParaRPr lang="en-US" sz="1600" dirty="0"/>
          </a:p>
          <a:p>
            <a:pPr marL="342900" indent="-342900">
              <a:spcAft>
                <a:spcPts val="600"/>
              </a:spcAft>
              <a:buSzPct val="100000"/>
              <a:buChar char="•"/>
            </a:pPr>
            <a:r>
              <a:rPr lang="en-US" sz="1600" dirty="0">
                <a:solidFill>
                  <a:srgbClr val="E2E8F0"/>
                </a:solidFill>
              </a:rPr>
              <a:t>Generator, CSVs, schema, route list, Postman collection</a:t>
            </a:r>
            <a:endParaRPr lang="en-US" sz="1600" dirty="0"/>
          </a:p>
          <a:p>
            <a:pPr marL="342900" indent="-342900">
              <a:spcAft>
                <a:spcPts val="600"/>
              </a:spcAft>
              <a:buSzPct val="100000"/>
              <a:buChar char="•"/>
            </a:pPr>
            <a:r>
              <a:rPr lang="en-US" sz="1600" dirty="0">
                <a:solidFill>
                  <a:srgbClr val="E2E8F0"/>
                </a:solidFill>
              </a:rPr>
              <a:t>ER diagram, SQL queries, security notes, AI log</a:t>
            </a:r>
            <a:endParaRPr lang="en-US" sz="1600" dirty="0"/>
          </a:p>
        </p:txBody>
      </p:sp>
      <p:sp>
        <p:nvSpPr>
          <p:cNvPr id="17" name="Text 15"/>
          <p:cNvSpPr txBox="1"/>
          <p:nvPr/>
        </p:nvSpPr>
        <p:spPr>
          <a:xfrm>
            <a:off x="6400800" y="3429000"/>
            <a:ext cx="5212080" cy="411480"/>
          </a:xfrm>
          <a:prstGeom prst="rect">
            <a:avLst/>
          </a:prstGeom>
          <a:noFill/>
          <a:ln/>
        </p:spPr>
        <p:txBody>
          <a:bodyPr wrap="square" lIns="0" tIns="0" rIns="0" bIns="0" rtlCol="0" anchor="ctr"/>
          <a:lstStyle/>
          <a:p>
            <a:pPr indent="0" marL="0">
              <a:buNone/>
            </a:pPr>
            <a:r>
              <a:rPr lang="en-US" sz="2000" b="1" dirty="0">
                <a:solidFill>
                  <a:srgbClr val="FFFFFF"/>
                </a:solidFill>
              </a:rPr>
              <a:t>Scope notes</a:t>
            </a:r>
            <a:endParaRPr lang="en-US" sz="2000" dirty="0"/>
          </a:p>
        </p:txBody>
      </p:sp>
      <p:sp>
        <p:nvSpPr>
          <p:cNvPr id="18" name="Text 16"/>
          <p:cNvSpPr txBox="1"/>
          <p:nvPr/>
        </p:nvSpPr>
        <p:spPr>
          <a:xfrm>
            <a:off x="6400800" y="3931920"/>
            <a:ext cx="5212080" cy="21031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E2E8F0"/>
                </a:solidFill>
              </a:rPr>
              <a:t>Power BI not delivered - SQL reconciliation provided instead</a:t>
            </a:r>
            <a:endParaRPr lang="en-US" sz="1600" dirty="0"/>
          </a:p>
          <a:p>
            <a:pPr marL="342900" indent="-342900">
              <a:spcAft>
                <a:spcPts val="600"/>
              </a:spcAft>
              <a:buSzPct val="100000"/>
              <a:buChar char="•"/>
            </a:pPr>
            <a:r>
              <a:rPr lang="en-US" sz="1600" dirty="0">
                <a:solidFill>
                  <a:srgbClr val="E2E8F0"/>
                </a:solidFill>
              </a:rPr>
              <a:t>MS Access (optional) not delivered</a:t>
            </a:r>
            <a:endParaRPr lang="en-US" sz="1600" dirty="0"/>
          </a:p>
          <a:p>
            <a:pPr marL="342900" indent="-342900">
              <a:spcAft>
                <a:spcPts val="600"/>
              </a:spcAft>
              <a:buSzPct val="100000"/>
              <a:buChar char="•"/>
            </a:pPr>
            <a:r>
              <a:rPr lang="en-US" sz="1600" dirty="0">
                <a:solidFill>
                  <a:srgbClr val="E2E8F0"/>
                </a:solidFill>
              </a:rPr>
              <a:t>Next: login rate limiting, security headers, company SSO, hosted deployment</a:t>
            </a:r>
            <a:endParaRPr lang="en-US" sz="1600" dirty="0"/>
          </a:p>
        </p:txBody>
      </p:sp>
    </p:spTree>
  </p:cSld>
  <p:clrMapOvr>
    <a:masterClrMapping/>
  </p:clrMapOvr>
</p:sld>
</file>

<file path=ppt/theme/theme1.xml><?xml version="1.0" encoding="utf-8"?>
<a:theme xmlns:a="http://schemas.openxmlformats.org/drawingml/2006/main" name="PMO Portal">
  <a:themeElements>
    <a:clrScheme name="PMO Portal">
      <a:dk1>
        <a:srgbClr val="0F172A"/>
      </a:dk1>
      <a:lt1>
        <a:srgbClr val="FFFFFF"/>
      </a:lt1>
      <a:dk2>
        <a:srgbClr val="334155"/>
      </a:dk2>
      <a:lt2>
        <a:srgbClr val="F1F5F9"/>
      </a:lt2>
      <a:accent1>
        <a:srgbClr val="4F46E5"/>
      </a:accent1>
      <a:accent2>
        <a:srgbClr val="2A78D6"/>
      </a:accent2>
      <a:accent3>
        <a:srgbClr val="EB6834"/>
      </a:accent3>
      <a:accent4>
        <a:srgbClr val="1BAF7A"/>
      </a:accent4>
      <a:accent5>
        <a:srgbClr val="D03B3B"/>
      </a:accent5>
      <a:accent6>
        <a:srgbClr val="C98500"/>
      </a:accent6>
      <a:hlink>
        <a:srgbClr val="4F46E5"/>
      </a:hlink>
      <a:folHlink>
        <a:srgbClr val="6366F1"/>
      </a:folHlink>
    </a:clrScheme>
    <a:fontScheme name="PMO Port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Portfolio &amp; Financial Control Portal</dc:title>
  <dc:subject>PptxGenJS Presentation</dc:subject>
  <dc:creator>Shoeb Shaikh</dc:creator>
  <cp:lastModifiedBy>Shoeb Shaikh</cp:lastModifiedBy>
  <cp:revision>1</cp:revision>
  <dcterms:created xsi:type="dcterms:W3CDTF">2026-10-18T20:26:23Z</dcterms:created>
  <dcterms:modified xsi:type="dcterms:W3CDTF">2026-10-18T20:26:23Z</dcterms:modified>
</cp:coreProperties>
</file>